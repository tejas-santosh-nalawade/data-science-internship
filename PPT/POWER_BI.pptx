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sldIdLst>
    <p:sldId id="284" r:id="rId5"/>
    <p:sldId id="286" r:id="rId6"/>
    <p:sldId id="262" r:id="rId7"/>
    <p:sldId id="342" r:id="rId8"/>
    <p:sldId id="300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7" r:id="rId21"/>
    <p:sldId id="358" r:id="rId22"/>
    <p:sldId id="359" r:id="rId23"/>
    <p:sldId id="354" r:id="rId24"/>
    <p:sldId id="355" r:id="rId25"/>
    <p:sldId id="356" r:id="rId26"/>
    <p:sldId id="361" r:id="rId27"/>
    <p:sldId id="360" r:id="rId28"/>
    <p:sldId id="363" r:id="rId29"/>
    <p:sldId id="362" r:id="rId30"/>
    <p:sldId id="364" r:id="rId31"/>
    <p:sldId id="365" r:id="rId32"/>
    <p:sldId id="366" r:id="rId33"/>
    <p:sldId id="29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28"/>
    <a:srgbClr val="E9C46A"/>
    <a:srgbClr val="97EFD3"/>
    <a:srgbClr val="F15574"/>
    <a:srgbClr val="F4EBE8"/>
    <a:srgbClr val="ECC4BF"/>
    <a:srgbClr val="C9A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96" autoAdjust="0"/>
  </p:normalViewPr>
  <p:slideViewPr>
    <p:cSldViewPr snapToGrid="0" snapToObjects="1" showGuides="1">
      <p:cViewPr>
        <p:scale>
          <a:sx n="75" d="100"/>
          <a:sy n="75" d="100"/>
        </p:scale>
        <p:origin x="974" y="245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221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11EE2-BE77-8BFD-88D0-F175756A7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33235-2F54-B43D-0460-868919B73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34619-8D64-EFF4-C2F9-715BA2F1F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9B49D-46E4-D365-0AE0-813D63B31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392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2B9B4-4931-75EB-8E55-6D74D6CEB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FBB22-8500-DBBE-6BAA-24AC5A38B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4D677-B473-DB1F-DDC0-56448F2F5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21A0A-D797-DF0B-58DE-1E3F6ACBA3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80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0B19A-EC15-3F77-1730-8803BD8EE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74B3E-BF2F-3C72-2FB2-84E013F10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72CDF-7658-C47C-2889-91AAA7259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9A0A6-7A5D-1C5A-E454-956795F8F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850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836B5-CA20-D98D-511C-3ED77CF7A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B411F-8DB2-F186-0F10-9FD9DF6B1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E33AB-AA27-A7F9-3F6E-70091E0D1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DD491-9944-54D2-33A3-9EB660F71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39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14DFF-1BB3-ABDB-214C-72D46A698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B49BC-F5AF-F8BA-169F-E1F1DB7FE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A0CF2-2CDC-3ED0-E995-61CA591B6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0DB44-7B3A-F920-6FCB-A6B205DBB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87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6C413-A570-09C7-704A-86FDC2AA0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B0A3A-A73A-57BD-F09D-7B9F38761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95EE5C-C74B-7BF8-00DD-33DF8E58C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8F746-BADC-A641-55DA-268F2ED22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136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AAD9D-43C0-2B35-283C-1780E9E64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7D6C2-02B5-65FF-34CD-D3A4C1447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FC837-F3FD-A47A-281E-A4D78F33A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72E9D-3708-0E6C-69BA-98BDD8492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438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037F-32ED-4CDA-46BE-AB5E0320E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20995-25BE-A1F0-8042-14AA020CC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C4D89-8430-5534-99B9-81F8ED46A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FCD1E-A220-86A2-99BD-D3CE4A62A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001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3F3E3-3103-47EE-167B-B781EAA2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A86C3-A164-4D1B-C84A-BA45DBDBD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168AD-3A8E-F455-E844-C160D2DAF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450CA-3CA4-430B-46EA-F46D5014F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122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5C14-786B-944D-1424-85F779A5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168FA-AAAA-D3F8-6EFF-BF4DD37D2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49C08-06A1-CD7D-0AC3-3965DF428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FA5BE-2B73-BF9A-AE54-C31455D6A4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739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B0CB-0CDC-35C0-0F25-4A163F02C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1DD08-AE46-53D4-C346-505A217F9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F4604-2F9B-1196-4581-F07DCC235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003E5-6FDA-8F5B-18F1-E6D4420A9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376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6C792-FD18-985F-0EDA-48C483B6A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C8D5C-375B-79D2-F6D0-80CAAC1D8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74B84-9F6A-1DCA-B91B-456649C33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9612C-363C-5981-9D83-7E11116E3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8421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7B251-DA4F-C36A-338C-C4907B58C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84433-FA3A-8036-E23A-B2AC1EC61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15943-D6C7-3775-1E56-4989A3DAC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4F9B1-5CBE-5B6D-593B-9D84075E2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361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81559-9999-4A5A-40B4-4D8D7A0D9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F47D4-9722-FC1A-F6D8-3859DAC63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257C2-8D29-FF77-90D7-9DEBFFAB6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2544A-17E5-B4F1-3396-C84ED225E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552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F5A6-87AD-92DF-FF9E-3429FDE94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7EBE9-ED69-9A24-AF21-50D505929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FE1D0-105E-FE4C-F13F-BEF2B3B15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A761D-AB58-2E08-621C-09DF9BBF8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6299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2D73-3F13-BE19-6C43-5B63EE9F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F9594-8178-BDFC-9AB4-0FF8BB4E9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3D6E7-6637-F819-5DEE-348A38520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F359C-7891-CFE7-1BCC-8E7D595BF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62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A8B8A-D66D-EA20-DC58-F88663E24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64AE3-A618-81C9-275E-91062C278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C4C65-7901-8B66-9A3D-889D40656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AC769-891D-8FD2-4EBA-F0E52CC47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6213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DC62-C9DE-0480-0E9B-2ED1F338E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4B988-E620-8F51-6CAD-766A00D3E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59DB6-4E1C-D32B-F15F-CB80A30E2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579CC-D314-79B3-4B77-53E5F9096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0446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55ABA-352B-7103-7295-D8F9EB73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2CBD9-0CF7-2750-8FC3-2D9154D55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F9CA9-971D-20AF-D829-4EE744EDA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19538-49E7-BD04-0498-30C4BAD9F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834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15BD4-9F1E-2F45-4DB5-4604D3E53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260EC-796C-4E24-7BA3-EEB8178CA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3F7F8-CA44-A751-6141-1170BAD5A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72682-B8F1-0C9E-A314-966D63D34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D3DFC-11A7-4DDF-8AEE-A5ACE051EBF3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154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084" y="2018824"/>
            <a:ext cx="4637609" cy="1298448"/>
          </a:xfrm>
        </p:spPr>
        <p:txBody>
          <a:bodyPr/>
          <a:lstStyle/>
          <a:p>
            <a:r>
              <a:rPr lang="en-US" sz="4400" b="1" dirty="0"/>
              <a:t>POWER BI DATA ANALYSIS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0461" y="4397756"/>
            <a:ext cx="4523232" cy="695452"/>
          </a:xfrm>
        </p:spPr>
        <p:txBody>
          <a:bodyPr/>
          <a:lstStyle/>
          <a:p>
            <a:r>
              <a:rPr lang="en-US" sz="2800" b="1" dirty="0"/>
              <a:t>TEJAS NALAWADE 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D3E2AC9-7989-CCDC-1A43-A4C9211DB7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5952095" y="1102424"/>
            <a:ext cx="4429696" cy="4429696"/>
          </a:xfrm>
        </p:spPr>
      </p:pic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3421-27E8-64F7-C72E-A20B3B5B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CC227-AEF6-4194-577B-C14BE9F08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1DEE7-E7EE-60E4-4393-4B4043EFA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E0F31-9524-2A85-6CB5-22AF4974A1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D4236D-E11C-38FC-772B-CE89036002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C2164E-29EB-0A75-9DCC-C2F08040A5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974E3C-F63F-9F93-EE35-CD5E465CD0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3258" y="4381964"/>
            <a:ext cx="2328814" cy="875128"/>
          </a:xfrm>
        </p:spPr>
        <p:txBody>
          <a:bodyPr/>
          <a:lstStyle/>
          <a:p>
            <a:r>
              <a:rPr lang="en-US" dirty="0"/>
              <a:t>Power BI and its phases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2D95C9-142A-BF9A-3602-F4AB116081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9387" y="4487774"/>
            <a:ext cx="2220912" cy="630936"/>
          </a:xfrm>
        </p:spPr>
        <p:txBody>
          <a:bodyPr/>
          <a:lstStyle/>
          <a:p>
            <a:r>
              <a:rPr lang="en-US" dirty="0"/>
              <a:t>Get Data Phase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2F5204-1928-06AD-9878-6DD27D5DF2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76469" y="4465966"/>
            <a:ext cx="2585784" cy="756198"/>
          </a:xfrm>
        </p:spPr>
        <p:txBody>
          <a:bodyPr/>
          <a:lstStyle/>
          <a:p>
            <a:r>
              <a:rPr lang="en-US" dirty="0"/>
              <a:t>Model Building Phase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977FAA-28B8-34BB-09CE-CCE6C8C73D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08423" y="4465966"/>
            <a:ext cx="2723882" cy="149823"/>
          </a:xfrm>
        </p:spPr>
        <p:txBody>
          <a:bodyPr/>
          <a:lstStyle/>
          <a:p>
            <a:r>
              <a:rPr lang="en-US" dirty="0"/>
              <a:t>Data Enhancement Phase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D1FB0-0B3C-DCCA-CB4F-4FEAE1317B8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711070" y="4477040"/>
            <a:ext cx="2480930" cy="756198"/>
          </a:xfrm>
        </p:spPr>
        <p:txBody>
          <a:bodyPr/>
          <a:lstStyle/>
          <a:p>
            <a:r>
              <a:rPr lang="en-US" dirty="0"/>
              <a:t>Visual Building Phase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EB92BE4-4ECF-AA5A-EBFA-AC2DBA93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E3B97B2-F540-9F02-5569-597A7E7B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26552" y="6400904"/>
            <a:ext cx="2338895" cy="310896"/>
          </a:xfrm>
        </p:spPr>
        <p:txBody>
          <a:bodyPr/>
          <a:lstStyle/>
          <a:p>
            <a:r>
              <a:rPr lang="en-US" sz="1200" dirty="0"/>
              <a:t>DATA SCIENCE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FA1C40B-4426-2DD0-CFB0-3E30E9C2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8197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8C7540E-B0E4-8988-0AC7-7E0E7DD8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216" y="155240"/>
            <a:ext cx="5488432" cy="795632"/>
          </a:xfrm>
        </p:spPr>
        <p:txBody>
          <a:bodyPr/>
          <a:lstStyle/>
          <a:p>
            <a:r>
              <a:rPr lang="en-US" sz="4400" b="1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F3D20-2309-63AE-98EC-B0B39012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9E0B8-E907-B063-5006-1AC4BB8F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A2F75-9D02-3ED8-071B-99FC210D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B3E077-7F17-1883-4456-AB9E42DBF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39" y="1097280"/>
            <a:ext cx="4764799" cy="500176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Power BI is a data visualization and business intelligence tool used to collect, transform, analyze, and visualize data to support better decision-making.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Phases in Power BI: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Get Data Phase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Data Modeling Phase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Model Enhancement Phase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Visual Building Phase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9E81031-1121-F81D-4398-D423909587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" r="510"/>
          <a:stretch>
            <a:fillRect/>
          </a:stretch>
        </p:blipFill>
        <p:spPr>
          <a:xfrm>
            <a:off x="4959891" y="1346093"/>
            <a:ext cx="7064223" cy="399400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102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5E50D-5E68-B813-7201-01FBD10D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7B8A2D6-1F0E-F98D-E6C7-392C8525D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216" y="155240"/>
            <a:ext cx="5488432" cy="795632"/>
          </a:xfrm>
        </p:spPr>
        <p:txBody>
          <a:bodyPr/>
          <a:lstStyle/>
          <a:p>
            <a:r>
              <a:rPr lang="en-US" sz="4400" b="1" dirty="0"/>
              <a:t>Power BI Phases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F7B87-8B90-3F2A-84D3-C508AE47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2F16C-9402-5463-C1BE-4F8A40C6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C930EB-2C13-2A01-18E6-EB2F7515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4D1C9-F613-4F32-3395-34C248363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3" y="1078992"/>
            <a:ext cx="5031233" cy="451713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b="1" dirty="0"/>
              <a:t>Get Data Phase </a:t>
            </a:r>
            <a:r>
              <a:rPr lang="en-US" sz="1800" dirty="0"/>
              <a:t>: The Get Data phase is where data is collected from different sources like databases, Excel, CSV files, or cloud services and cleaned using Power Query.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r>
              <a:rPr lang="en-IN" sz="1800" b="1" dirty="0"/>
              <a:t>Data Modelling Phase</a:t>
            </a:r>
            <a:r>
              <a:rPr lang="en-IN" sz="1800" dirty="0"/>
              <a:t>: </a:t>
            </a:r>
            <a:r>
              <a:rPr lang="en-US" sz="1800" dirty="0"/>
              <a:t>The Data Modeling phase is where relationships are created between tables and the data structure is designed for analysis.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r>
              <a:rPr lang="en-IN" sz="1800" b="1" dirty="0"/>
              <a:t>Model Enhancement Phase</a:t>
            </a:r>
            <a:r>
              <a:rPr lang="en-IN" sz="1800" dirty="0"/>
              <a:t>: </a:t>
            </a:r>
            <a:r>
              <a:rPr lang="en-US" sz="1800" dirty="0"/>
              <a:t>The Model Enhancement phase is where calculations, measures, and calculated columns are created using DAX to improve analysis.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r>
              <a:rPr lang="en-IN" sz="1800" b="1" dirty="0"/>
              <a:t>Visual Building Phase</a:t>
            </a:r>
            <a:r>
              <a:rPr lang="en-IN" sz="1800" dirty="0"/>
              <a:t>: </a:t>
            </a:r>
            <a:r>
              <a:rPr lang="en-US" sz="1800" dirty="0"/>
              <a:t>The Visual Building phase is where charts, tables, and dashboards are created to display insights in an interactive and visual way.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04669-D49D-04CF-E5AA-2CCD76DCBC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978" b="16089"/>
          <a:stretch>
            <a:fillRect/>
          </a:stretch>
        </p:blipFill>
        <p:spPr>
          <a:xfrm>
            <a:off x="5111495" y="1408176"/>
            <a:ext cx="6821429" cy="410565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5514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EA8E2-7379-72B3-304E-D36371E7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8B8D6E3-FA37-9CD1-833C-5BC8178CF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24"/>
            <a:ext cx="10783824" cy="660325"/>
          </a:xfrm>
        </p:spPr>
        <p:txBody>
          <a:bodyPr/>
          <a:lstStyle/>
          <a:p>
            <a:r>
              <a:rPr lang="en-US" sz="4000" b="1" dirty="0"/>
              <a:t>GET DATA PHASE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B4B70-F00A-E3E2-D8AF-41B80156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5BF5D-F655-C1EE-7E41-DC55FD18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C69472-8CE0-B6C6-3BE1-7B31790B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099FC-B563-6680-21A0-80908744FEAE}"/>
              </a:ext>
            </a:extLst>
          </p:cNvPr>
          <p:cNvSpPr txBox="1"/>
          <p:nvPr/>
        </p:nvSpPr>
        <p:spPr>
          <a:xfrm>
            <a:off x="185928" y="1376418"/>
            <a:ext cx="3859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400" b="1" dirty="0"/>
            </a:b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2D9430-BAA8-CA7B-1423-FE4B7D9CE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9" y="1100883"/>
            <a:ext cx="8645288" cy="48610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3A256F-EA61-78C8-5A4A-E5F42C1AAF47}"/>
              </a:ext>
            </a:extLst>
          </p:cNvPr>
          <p:cNvSpPr txBox="1"/>
          <p:nvPr/>
        </p:nvSpPr>
        <p:spPr>
          <a:xfrm>
            <a:off x="8988552" y="1078509"/>
            <a:ext cx="294436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Get Data phase</a:t>
            </a:r>
            <a:r>
              <a:rPr lang="en-US" sz="2000" dirty="0"/>
              <a:t> is the first step in Power BI where data is imported or connected from different sources into Power BI for analysis.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Excel Workbook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Text /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XML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Oracle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Azure SQL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SQL Server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6557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E9728-FAE2-C6C1-95CF-A2F82689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79030D8-4554-51C8-7575-033E3AB87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87960"/>
            <a:ext cx="10783824" cy="660325"/>
          </a:xfrm>
        </p:spPr>
        <p:txBody>
          <a:bodyPr/>
          <a:lstStyle/>
          <a:p>
            <a:r>
              <a:rPr lang="en-US" sz="4000" b="1" dirty="0"/>
              <a:t>LOAD AND TRANSFORM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8995C-8571-E3DC-73B5-2DB2DE9E9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FAAB2C-4DA5-6413-060E-FDEBAE86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1186D-F61E-EA24-F136-42DD54FBC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D088D-D47D-B962-0303-BE9D36323C9E}"/>
              </a:ext>
            </a:extLst>
          </p:cNvPr>
          <p:cNvSpPr txBox="1"/>
          <p:nvPr/>
        </p:nvSpPr>
        <p:spPr>
          <a:xfrm>
            <a:off x="185928" y="1376418"/>
            <a:ext cx="3859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400" b="1" dirty="0"/>
            </a:br>
            <a:endParaRPr lang="en-IN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75CB6E-D60B-268C-70A8-E3BA32810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14" y="1376418"/>
            <a:ext cx="7882404" cy="443205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DC1287-0CDD-1F91-F6FA-61559BFD2AAA}"/>
              </a:ext>
            </a:extLst>
          </p:cNvPr>
          <p:cNvSpPr txBox="1"/>
          <p:nvPr/>
        </p:nvSpPr>
        <p:spPr>
          <a:xfrm>
            <a:off x="8371170" y="1270104"/>
            <a:ext cx="355701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Steps to Import Excel Data into Power BI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Open </a:t>
            </a:r>
            <a:r>
              <a:rPr lang="en-IN" sz="2000" b="1" dirty="0"/>
              <a:t>Power BI Desktop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Click </a:t>
            </a:r>
            <a:r>
              <a:rPr lang="en-IN" sz="2000" b="1" dirty="0"/>
              <a:t>Home → Get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Select </a:t>
            </a:r>
            <a:r>
              <a:rPr lang="en-IN" sz="2000" b="1" dirty="0"/>
              <a:t>Excel Workbook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Browse and select the Excel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Click </a:t>
            </a:r>
            <a:r>
              <a:rPr lang="en-IN" sz="2000" b="1" dirty="0"/>
              <a:t>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r>
              <a:rPr lang="en-IN" sz="2000" b="1" dirty="0"/>
              <a:t>Load: </a:t>
            </a:r>
            <a:r>
              <a:rPr lang="en-US" sz="2000" dirty="0"/>
              <a:t>Imports data directly into Power BI and use when data clean</a:t>
            </a:r>
          </a:p>
          <a:p>
            <a:endParaRPr lang="en-US" sz="2000" dirty="0"/>
          </a:p>
          <a:p>
            <a:r>
              <a:rPr lang="en-US" sz="2000" b="1" dirty="0"/>
              <a:t>Transform:  </a:t>
            </a:r>
            <a:r>
              <a:rPr lang="en-IN" sz="2000" dirty="0"/>
              <a:t>Opens Power Query Editor and use to clean and modify data </a:t>
            </a:r>
          </a:p>
        </p:txBody>
      </p:sp>
    </p:spTree>
    <p:extLst>
      <p:ext uri="{BB962C8B-B14F-4D97-AF65-F5344CB8AC3E}">
        <p14:creationId xmlns:p14="http://schemas.microsoft.com/office/powerpoint/2010/main" val="3286527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10CE6-E62F-04CA-33ED-1E3BBDF4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B277E94-A932-9FB9-3D5F-D33DA1765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87960"/>
            <a:ext cx="10783824" cy="660325"/>
          </a:xfrm>
        </p:spPr>
        <p:txBody>
          <a:bodyPr/>
          <a:lstStyle/>
          <a:p>
            <a:r>
              <a:rPr lang="en-US" sz="4000" b="1" dirty="0"/>
              <a:t>POWER QUERY EDITOR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07F94-BC87-0D09-5FD3-0DEFF9F9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CF35C6-B35A-24EF-B117-442F37DDC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789C66-A879-FFB3-7BB8-52CFE8C16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E07FE-F095-4C40-E6D4-E39E3709AC9A}"/>
              </a:ext>
            </a:extLst>
          </p:cNvPr>
          <p:cNvSpPr txBox="1"/>
          <p:nvPr/>
        </p:nvSpPr>
        <p:spPr>
          <a:xfrm>
            <a:off x="185928" y="1376418"/>
            <a:ext cx="3859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400" b="1" dirty="0"/>
            </a:b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317F5-219D-D87C-0A62-95E3239D8152}"/>
              </a:ext>
            </a:extLst>
          </p:cNvPr>
          <p:cNvSpPr txBox="1"/>
          <p:nvPr/>
        </p:nvSpPr>
        <p:spPr>
          <a:xfrm>
            <a:off x="8146216" y="1270104"/>
            <a:ext cx="38598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Power Query Editor is a tool in Power BI used to </a:t>
            </a:r>
            <a:r>
              <a:rPr lang="en-US" sz="2000" b="1" dirty="0"/>
              <a:t>clean, transform, and prepare data</a:t>
            </a:r>
            <a:r>
              <a:rPr lang="en-US" sz="2000" dirty="0"/>
              <a:t> before loading it into the data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Clean raw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Transform data into usable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Perform ETL (Extract, Transform, Load)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How to Open Power Query Editor: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Open </a:t>
            </a:r>
            <a:r>
              <a:rPr lang="en-IN" sz="2000" b="1" dirty="0"/>
              <a:t>Power BI Desktop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Click </a:t>
            </a:r>
            <a:r>
              <a:rPr lang="en-IN" sz="2000" b="1" dirty="0"/>
              <a:t>Home → Transform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Query Editor window opens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7AEC5D-60B0-B15F-2465-D5F057A54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" y="1376418"/>
            <a:ext cx="7778496" cy="437363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66313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A9C74-EEF2-8964-8091-8C20B481D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B6EB24E-9E42-8254-A72A-D2F738124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135749"/>
            <a:ext cx="10783824" cy="660325"/>
          </a:xfrm>
        </p:spPr>
        <p:txBody>
          <a:bodyPr/>
          <a:lstStyle/>
          <a:p>
            <a:r>
              <a:rPr lang="en-US" sz="4000" b="1" dirty="0"/>
              <a:t>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90224-1A52-2BE0-0341-2BE0987F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3D2B9C-1382-5FE8-4F69-237C2323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40C7A-E592-B6FC-1A3E-D54E66E1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4A76B-2AD6-2090-12CA-B68E6186C802}"/>
              </a:ext>
            </a:extLst>
          </p:cNvPr>
          <p:cNvSpPr txBox="1"/>
          <p:nvPr/>
        </p:nvSpPr>
        <p:spPr>
          <a:xfrm>
            <a:off x="185928" y="1376418"/>
            <a:ext cx="3859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400" b="1" dirty="0"/>
            </a:b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F90E4-4DFF-EBCF-367F-D590C9D7908E}"/>
              </a:ext>
            </a:extLst>
          </p:cNvPr>
          <p:cNvSpPr txBox="1"/>
          <p:nvPr/>
        </p:nvSpPr>
        <p:spPr>
          <a:xfrm>
            <a:off x="262128" y="2300067"/>
            <a:ext cx="118628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Home tab</a:t>
            </a:r>
            <a:r>
              <a:rPr lang="en-US" dirty="0"/>
              <a:t> in Power Query Editor contains all the </a:t>
            </a:r>
            <a:r>
              <a:rPr lang="en-US" b="1" dirty="0"/>
              <a:t>basic and most frequently used commands</a:t>
            </a:r>
            <a:r>
              <a:rPr lang="en-US" dirty="0"/>
              <a:t> required to manage data sources, queries, and transformations.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Close &amp; Apply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New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Recent 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Enter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Data Source Settings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Manage Parameters and Refresh Preview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Properties and Advance Editor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Manage: Duplicate and Reference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Manage Column and Reduce Row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Sort and Group By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Transform and Combine 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A6C27F-234C-CB0B-F87E-5D4C8FC22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31" y="964941"/>
            <a:ext cx="9866281" cy="116625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6917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EFD55-CD2E-8A66-5190-34FF18E1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1A18E04-53C1-A384-B2BE-71C32AAD5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436" y="79286"/>
            <a:ext cx="2423160" cy="640993"/>
          </a:xfrm>
        </p:spPr>
        <p:txBody>
          <a:bodyPr/>
          <a:lstStyle/>
          <a:p>
            <a:r>
              <a:rPr lang="en-US" sz="4000" b="1" dirty="0"/>
              <a:t>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3F945-D83E-4F7A-39AF-A777BDBE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E0718-4695-9A29-9DDD-96DE66D31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40C8EB-7D0A-B2DD-3A7F-5CEE87C0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A802F8-D438-1218-4053-45156CF36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44" y="990941"/>
            <a:ext cx="1894312" cy="19155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198732-7EC3-8B0A-D6ED-EE28036F6793}"/>
              </a:ext>
            </a:extLst>
          </p:cNvPr>
          <p:cNvSpPr txBox="1"/>
          <p:nvPr/>
        </p:nvSpPr>
        <p:spPr>
          <a:xfrm>
            <a:off x="5970676" y="1100669"/>
            <a:ext cx="5999780" cy="508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CLOSE APPLY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Close &amp; Apply</a:t>
            </a:r>
            <a:r>
              <a:rPr lang="en-US" sz="1600" dirty="0"/>
              <a:t>: Applies all the changes and closes the Power Query Editor window.</a:t>
            </a:r>
            <a:endParaRPr lang="en-IN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Apply</a:t>
            </a:r>
            <a:r>
              <a:rPr lang="en-US" sz="1600" dirty="0"/>
              <a:t>: Applies the changes without closing the Power Query Editor window.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Close</a:t>
            </a:r>
            <a:r>
              <a:rPr lang="en-US" sz="1600" dirty="0"/>
              <a:t>: Closes the Power Query Editor without applying changes.</a:t>
            </a:r>
            <a:br>
              <a:rPr lang="en-US" sz="1600" dirty="0"/>
            </a:br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NEW SOURCE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Used to </a:t>
            </a:r>
            <a:r>
              <a:rPr lang="en-US" sz="1600" b="1" dirty="0"/>
              <a:t>add new data sources</a:t>
            </a:r>
            <a:r>
              <a:rPr lang="en-US" sz="1600" dirty="0"/>
              <a:t> while already working in Power Query Editor.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Supports Excel, CSV, Databases, Web, Folder, etc.</a:t>
            </a:r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RECENT SOURCES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Shows a list of </a:t>
            </a:r>
            <a:r>
              <a:rPr lang="en-US" sz="1600" b="1" dirty="0"/>
              <a:t>recently used data sources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Helps reconnect to data sources quickly.</a:t>
            </a:r>
            <a:endParaRPr lang="en-IN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ENTER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Used to </a:t>
            </a:r>
            <a:r>
              <a:rPr lang="en-US" sz="1600" b="1" dirty="0"/>
              <a:t>manually enter data</a:t>
            </a:r>
            <a:r>
              <a:rPr lang="en-US" sz="1600" dirty="0"/>
              <a:t> into Power BI.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Helpful for creating small lookup or reference tables.</a:t>
            </a:r>
            <a:endParaRPr lang="en-IN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A6E19E9-CED4-E535-1258-C40FC8438F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14" r="4760" b="2266"/>
          <a:stretch>
            <a:fillRect/>
          </a:stretch>
        </p:blipFill>
        <p:spPr>
          <a:xfrm>
            <a:off x="221544" y="3292014"/>
            <a:ext cx="2999058" cy="303400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672193-2AC8-8DC8-E972-2958D52EF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0179" y="3299265"/>
            <a:ext cx="2216244" cy="3034003"/>
          </a:xfrm>
          <a:prstGeom prst="rect">
            <a:avLst/>
          </a:prstGeom>
          <a:ln w="38100">
            <a:solidFill>
              <a:srgbClr val="282828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A0E68AC-3C31-B928-0D23-D7434344AD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7263" y="932854"/>
            <a:ext cx="3072006" cy="215599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45294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00682-7681-D4F3-5177-35171AA53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111577C-671B-7450-DAA0-F1CDF04A2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436" y="79286"/>
            <a:ext cx="2423160" cy="640993"/>
          </a:xfrm>
        </p:spPr>
        <p:txBody>
          <a:bodyPr/>
          <a:lstStyle/>
          <a:p>
            <a:r>
              <a:rPr lang="en-US" sz="4000" b="1" dirty="0"/>
              <a:t>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0B835-149B-B846-32A6-C1899BBB4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75386-FCA8-BF92-CD97-889A21FC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8C43DB-70FE-2CDA-0C39-D410D28C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FD705-C889-4F16-2972-ABFB2E9A6396}"/>
              </a:ext>
            </a:extLst>
          </p:cNvPr>
          <p:cNvSpPr txBox="1"/>
          <p:nvPr/>
        </p:nvSpPr>
        <p:spPr>
          <a:xfrm>
            <a:off x="169630" y="896112"/>
            <a:ext cx="292933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DATA SOURCE SETTINGS</a:t>
            </a:r>
            <a:br>
              <a:rPr lang="en-IN" sz="2000" b="1" dirty="0"/>
            </a:br>
            <a:endParaRPr lang="en-IN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Used to </a:t>
            </a:r>
            <a:r>
              <a:rPr lang="en-US" sz="2000" b="1" dirty="0"/>
              <a:t>view, edit, or delete data source connections</a:t>
            </a:r>
            <a:r>
              <a:rPr lang="en-US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Allows changing credentials and permissions..</a:t>
            </a:r>
            <a:br>
              <a:rPr lang="en-US" sz="2000" dirty="0"/>
            </a:b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MANAGE PARAMETER:</a:t>
            </a:r>
            <a:br>
              <a:rPr lang="en-US" sz="2000" b="1" dirty="0"/>
            </a:b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To create </a:t>
            </a:r>
            <a:r>
              <a:rPr lang="en-US" sz="2000" b="1" dirty="0"/>
              <a:t>different environment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Helps avoid </a:t>
            </a:r>
            <a:r>
              <a:rPr lang="en-US" sz="2000" b="1" dirty="0"/>
              <a:t>hard-coding values</a:t>
            </a:r>
            <a:r>
              <a:rPr lang="en-US" sz="2000" dirty="0"/>
              <a:t> in queries</a:t>
            </a:r>
          </a:p>
          <a:p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BF6CFC-83A0-4651-B6C2-E5A9EEB47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201" y="1203018"/>
            <a:ext cx="4720169" cy="441535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A0F065-A22C-1749-1020-ABAF92D22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072" y="1203018"/>
            <a:ext cx="3725025" cy="44519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2355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7134C-3E31-F7F8-DB30-5BCD2C069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948568E-7762-996C-F524-C9760DA6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436" y="79286"/>
            <a:ext cx="2423160" cy="640993"/>
          </a:xfrm>
        </p:spPr>
        <p:txBody>
          <a:bodyPr/>
          <a:lstStyle/>
          <a:p>
            <a:r>
              <a:rPr lang="en-US" sz="4000" b="1" dirty="0"/>
              <a:t>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A7031-76AE-344B-FC3B-A3515A0E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62A6A8-F1D0-67E8-24C3-D3E65FBE7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E141A-7377-D4EF-BFDB-4849E21A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9D3F7-0C26-B4FE-46B0-327D0A0D95CB}"/>
              </a:ext>
            </a:extLst>
          </p:cNvPr>
          <p:cNvSpPr txBox="1"/>
          <p:nvPr/>
        </p:nvSpPr>
        <p:spPr>
          <a:xfrm>
            <a:off x="242782" y="996696"/>
            <a:ext cx="326665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REFRESH PREVIEW</a:t>
            </a:r>
            <a:br>
              <a:rPr lang="en-IN" sz="2000" b="1" dirty="0"/>
            </a:br>
            <a:endParaRPr lang="en-IN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Refresh Preview</a:t>
            </a:r>
            <a:r>
              <a:rPr lang="en-US" sz="2000" dirty="0"/>
              <a:t>: Refresh the preview result for the query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Refresh All: </a:t>
            </a:r>
            <a:r>
              <a:rPr lang="en-US" sz="2000" dirty="0"/>
              <a:t>Refresh the preview result for the whole query.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Cancel Refresh:</a:t>
            </a:r>
            <a:r>
              <a:rPr lang="en-US" sz="2000" dirty="0"/>
              <a:t> Cancel the refresh of the query</a:t>
            </a:r>
            <a:br>
              <a:rPr lang="en-US" sz="2000" dirty="0"/>
            </a:b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PROPERTIES:</a:t>
            </a:r>
            <a:br>
              <a:rPr lang="en-US" sz="2000" b="1" dirty="0"/>
            </a:b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Rename a Query and adding a description to the query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F29AC3-B0CA-B028-0EEA-D5E6F14A8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056" y="1572613"/>
            <a:ext cx="3160891" cy="253304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CC7755-DE91-5BC5-4881-84754BFA1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303" y="1359878"/>
            <a:ext cx="4616915" cy="437391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73721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FD234-212A-96E8-05AD-97D5FE34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61384B-07A7-2C19-2D0E-82B2B1361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436" y="79286"/>
            <a:ext cx="2423160" cy="640993"/>
          </a:xfrm>
        </p:spPr>
        <p:txBody>
          <a:bodyPr/>
          <a:lstStyle/>
          <a:p>
            <a:r>
              <a:rPr lang="en-US" sz="4000" b="1" dirty="0"/>
              <a:t>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3435-5478-0007-F3C3-2FB4163E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90B574-DCEC-DC3D-C0C4-57B81BA97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E37D3-DD8A-8947-BEF0-AE787133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B48B2D-697B-F860-FC40-A71755F6C86A}"/>
              </a:ext>
            </a:extLst>
          </p:cNvPr>
          <p:cNvSpPr txBox="1"/>
          <p:nvPr/>
        </p:nvSpPr>
        <p:spPr>
          <a:xfrm>
            <a:off x="87334" y="846198"/>
            <a:ext cx="487785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ADVANCE EDITOR</a:t>
            </a:r>
            <a:br>
              <a:rPr lang="en-IN" b="1" dirty="0"/>
            </a:br>
            <a:endParaRPr lang="en-I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Advanced Editor</a:t>
            </a:r>
            <a:r>
              <a:rPr lang="en-US" dirty="0"/>
              <a:t> is used to </a:t>
            </a:r>
            <a:r>
              <a:rPr lang="en-US" b="1" dirty="0"/>
              <a:t>view and edit Power Query (M language) code</a:t>
            </a:r>
            <a:r>
              <a:rPr lang="en-US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shows </a:t>
            </a:r>
            <a:r>
              <a:rPr lang="en-US" b="1" dirty="0"/>
              <a:t>all transformation steps</a:t>
            </a:r>
            <a:r>
              <a:rPr lang="en-US" dirty="0"/>
              <a:t> applied to the data in a single script.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Helps users understand </a:t>
            </a:r>
            <a:r>
              <a:rPr lang="en-US" b="1" dirty="0"/>
              <a:t>how Power BI transforms data internally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Key Components in Advanced Editor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Let</a:t>
            </a:r>
            <a:r>
              <a:rPr lang="en-IN" dirty="0"/>
              <a:t>: Defines all transformation steps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Source</a:t>
            </a:r>
            <a:r>
              <a:rPr lang="en-IN" dirty="0"/>
              <a:t>: </a:t>
            </a:r>
            <a:r>
              <a:rPr lang="fr-FR" dirty="0"/>
              <a:t>Specifies data source (Excel, SQL, Oracle, etc.)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Transformation Steps</a:t>
            </a:r>
            <a:r>
              <a:rPr lang="en-IN" dirty="0"/>
              <a:t>: Column changes, data type changes, split, merge, filters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In</a:t>
            </a:r>
            <a:r>
              <a:rPr lang="en-IN" dirty="0"/>
              <a:t>: </a:t>
            </a:r>
            <a:r>
              <a:rPr lang="en-US" dirty="0"/>
              <a:t>Returns the </a:t>
            </a:r>
            <a:r>
              <a:rPr lang="en-US" b="1" dirty="0"/>
              <a:t>final output step</a:t>
            </a:r>
            <a:r>
              <a:rPr lang="en-US" dirty="0"/>
              <a:t> to Power BI</a:t>
            </a:r>
          </a:p>
          <a:p>
            <a:pPr lvl="1"/>
            <a:r>
              <a:rPr lang="en-US" dirty="0"/>
              <a:t>	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1D50CB-E9FD-8E07-217C-4F6DA8988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464" y="1200364"/>
            <a:ext cx="6495288" cy="420400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7941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02953-FC0A-4DD9-E509-9A9945C3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A2352ED-6284-6625-64FD-B8C525B37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436" y="79286"/>
            <a:ext cx="2423160" cy="640993"/>
          </a:xfrm>
        </p:spPr>
        <p:txBody>
          <a:bodyPr/>
          <a:lstStyle/>
          <a:p>
            <a:r>
              <a:rPr lang="en-US" sz="4000" b="1" dirty="0"/>
              <a:t>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37A9D-DE96-0056-2722-E1CE2823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4075F-6488-41E2-8E72-62EECAB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62D22-6C39-07D6-4B9B-67178429C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AEEAD1-1A3A-F036-D543-A31EC327AC6E}"/>
              </a:ext>
            </a:extLst>
          </p:cNvPr>
          <p:cNvSpPr txBox="1"/>
          <p:nvPr/>
        </p:nvSpPr>
        <p:spPr>
          <a:xfrm>
            <a:off x="137109" y="951829"/>
            <a:ext cx="541083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MANAGE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Delete</a:t>
            </a:r>
            <a:r>
              <a:rPr lang="en-US" sz="1400" dirty="0"/>
              <a:t> – Removes the selected query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Duplicate</a:t>
            </a:r>
            <a:r>
              <a:rPr lang="en-US" sz="1400" dirty="0"/>
              <a:t> – Creates a copy of the query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Reference</a:t>
            </a:r>
            <a:r>
              <a:rPr lang="en-US" sz="1400" dirty="0"/>
              <a:t> – Creates a new query linked to the original query</a:t>
            </a:r>
            <a:endParaRPr lang="en-IN" sz="1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CHOOSE COLUMNS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Choose Columns</a:t>
            </a:r>
            <a:r>
              <a:rPr lang="en-US" sz="1400" dirty="0"/>
              <a:t> – Select which columns to keep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Go To Column</a:t>
            </a:r>
            <a:r>
              <a:rPr lang="en-US" sz="1400" dirty="0"/>
              <a:t> – Quickly jump to a specific column</a:t>
            </a:r>
            <a:endParaRPr lang="en-IN" sz="1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REMOVE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Remove Columns</a:t>
            </a:r>
            <a:r>
              <a:rPr lang="en-US" sz="1400" dirty="0"/>
              <a:t> – Deletes selected columns.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Remove Other Columns</a:t>
            </a:r>
            <a:r>
              <a:rPr lang="en-US" sz="1400" dirty="0"/>
              <a:t> – Keeps selected columns, removes rest</a:t>
            </a:r>
            <a:endParaRPr lang="en-IN" sz="1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KEEP ROWS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Keep Top Rows</a:t>
            </a:r>
            <a:r>
              <a:rPr lang="en-US" sz="1400" dirty="0"/>
              <a:t> – Keeps first N rows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Keep Bottom Rows</a:t>
            </a:r>
            <a:r>
              <a:rPr lang="en-US" sz="1400" dirty="0"/>
              <a:t> – Keeps last N rows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Keep Range of Rows</a:t>
            </a:r>
            <a:r>
              <a:rPr lang="en-US" sz="1400" dirty="0"/>
              <a:t> – Keeps rows from a specific position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Keep Duplicates</a:t>
            </a:r>
            <a:r>
              <a:rPr lang="en-US" sz="1400" dirty="0"/>
              <a:t> – Keeps only duplicate rows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Keep Errors</a:t>
            </a:r>
            <a:r>
              <a:rPr lang="en-US" sz="1400" dirty="0"/>
              <a:t> – Keeps only rows with errors</a:t>
            </a:r>
            <a:endParaRPr lang="en-IN" sz="1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1400" b="1" dirty="0"/>
              <a:t>  REMOVE ROWS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/>
              <a:t>Advanced Editor</a:t>
            </a:r>
            <a:r>
              <a:rPr lang="en-US" sz="1400" dirty="0"/>
              <a:t> is used to </a:t>
            </a:r>
            <a:r>
              <a:rPr lang="en-US" sz="1400" b="1" dirty="0"/>
              <a:t>view and edit Power Query (M language) code</a:t>
            </a:r>
            <a:r>
              <a:rPr lang="en-US" sz="1400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Remove Top Rows</a:t>
            </a:r>
            <a:r>
              <a:rPr lang="en-US" sz="1400" dirty="0"/>
              <a:t> – Removes first N rows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Remove Bottom Rows</a:t>
            </a:r>
            <a:r>
              <a:rPr lang="en-US" sz="1400" dirty="0"/>
              <a:t> – Removes last N rows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Remove Alternate Rows</a:t>
            </a:r>
            <a:r>
              <a:rPr lang="en-US" sz="1400" dirty="0"/>
              <a:t> – Removes rows in a pattern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/>
              <a:t>Remove Duplicates</a:t>
            </a:r>
            <a:r>
              <a:rPr lang="en-IN" sz="1400" dirty="0"/>
              <a:t> – Deletes duplicate rows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Remove Errors</a:t>
            </a:r>
            <a:r>
              <a:rPr lang="en-US" sz="1400" dirty="0"/>
              <a:t> – Deletes rows with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Remove Blank Rows</a:t>
            </a:r>
            <a:r>
              <a:rPr lang="en-US" sz="1400" dirty="0"/>
              <a:t> – Deletes empty rows	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DC4127-70B1-1173-4D7F-088273E6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080" y="4534906"/>
            <a:ext cx="1706296" cy="159354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DE5A66-D8B4-BB4E-3E66-3BD78EB1F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867" y="3895574"/>
            <a:ext cx="1706296" cy="24654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FC8718-0A94-40C7-3C2B-613B8B509A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814" y="4515989"/>
            <a:ext cx="1852627" cy="15999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5CFEC7A-1B27-7D72-F29C-B5726A5D39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5042" y="2766458"/>
            <a:ext cx="2654183" cy="140613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51374B7-48F9-B045-241B-78C2EA9E33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7137" y="852460"/>
            <a:ext cx="2209991" cy="16290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E4657BF-63C8-371F-63B0-566DEDC9DB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1685" y="1145169"/>
            <a:ext cx="2209992" cy="208044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A2FECA-B044-1152-89DD-3733C5DC18BD}"/>
              </a:ext>
            </a:extLst>
          </p:cNvPr>
          <p:cNvCxnSpPr>
            <a:cxnSpLocks/>
          </p:cNvCxnSpPr>
          <p:nvPr/>
        </p:nvCxnSpPr>
        <p:spPr>
          <a:xfrm flipH="1">
            <a:off x="6986163" y="5184648"/>
            <a:ext cx="74991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800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C4A84-1A12-B8A1-0B5E-326923DB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3520C46-D9A8-462B-2776-120F4B458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436" y="79286"/>
            <a:ext cx="2423160" cy="640993"/>
          </a:xfrm>
        </p:spPr>
        <p:txBody>
          <a:bodyPr/>
          <a:lstStyle/>
          <a:p>
            <a:r>
              <a:rPr lang="en-US" sz="4000" b="1" dirty="0"/>
              <a:t>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7BD08-CC63-FD09-BA9B-C9BA671B9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3EBF-9279-316E-6B96-5995C7B6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2DFB5-3EBC-3C1B-A418-6E1D4070C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EB0F59-49F5-7AEB-2788-B2A78EAA3BEE}"/>
              </a:ext>
            </a:extLst>
          </p:cNvPr>
          <p:cNvSpPr txBox="1"/>
          <p:nvPr/>
        </p:nvSpPr>
        <p:spPr>
          <a:xfrm>
            <a:off x="182808" y="848638"/>
            <a:ext cx="513588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SORT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Arranges data in </a:t>
            </a:r>
            <a:r>
              <a:rPr lang="en-US" sz="2000" b="1" dirty="0"/>
              <a:t>Ascending or Descending order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Sorts rows based on </a:t>
            </a:r>
            <a:r>
              <a:rPr lang="en-US" sz="2000" b="1" dirty="0"/>
              <a:t>one or more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Helps organize data before loading into Power BI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SPLIT COLUMN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By Delimiter</a:t>
            </a:r>
            <a:r>
              <a:rPr lang="en-US" sz="2000" dirty="0"/>
              <a:t> : Splits using comma, space, dash,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By Number of Characters: </a:t>
            </a:r>
            <a:r>
              <a:rPr lang="en-US" sz="2000" dirty="0"/>
              <a:t> Splits after fixed characters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By Position: </a:t>
            </a:r>
            <a:r>
              <a:rPr lang="en-US" sz="2000" dirty="0"/>
              <a:t> Splits at a specific position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Lowercase to Uppercase</a:t>
            </a:r>
            <a:r>
              <a:rPr lang="en-US" sz="2000" dirty="0"/>
              <a:t> : hello -&gt; HELLO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Uppercase to Lowercase: </a:t>
            </a:r>
            <a:r>
              <a:rPr lang="en-IN" sz="2000" dirty="0"/>
              <a:t>WORLD -&gt; world</a:t>
            </a:r>
            <a:endParaRPr lang="en-IN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Digit to Non-Digit: </a:t>
            </a:r>
            <a:r>
              <a:rPr lang="en-IN" sz="2000" dirty="0"/>
              <a:t>123ABC-&gt; 123 | ABC</a:t>
            </a:r>
            <a:endParaRPr lang="en-IN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/>
              <a:t>Non-Digit to Digit: </a:t>
            </a:r>
            <a:r>
              <a:rPr lang="en-IN" sz="2000" dirty="0"/>
              <a:t>ABC123 → ABC | 123</a:t>
            </a:r>
            <a:endParaRPr lang="en-US" sz="20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73B769-523D-C736-50B5-F6645A73B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688" y="3692661"/>
            <a:ext cx="6644712" cy="236565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B43BC6-3B19-3E65-0998-98EB7CA3E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137" y="983384"/>
            <a:ext cx="4255008" cy="236669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53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45459-FFB3-AD8B-B6BB-907485C5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E384414-4153-048B-3F04-D73E22C3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436" y="79286"/>
            <a:ext cx="2423160" cy="640993"/>
          </a:xfrm>
        </p:spPr>
        <p:txBody>
          <a:bodyPr/>
          <a:lstStyle/>
          <a:p>
            <a:r>
              <a:rPr lang="en-US" sz="4000" b="1" dirty="0"/>
              <a:t>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84362-D493-1816-C7A9-4B0D343F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2901B-20ED-45FD-3912-849576A4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2DC38D-012F-9DAC-B5F9-6F0B60D2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8F859-3FB4-CC26-55F6-E380C96FB1A3}"/>
              </a:ext>
            </a:extLst>
          </p:cNvPr>
          <p:cNvSpPr txBox="1"/>
          <p:nvPr/>
        </p:nvSpPr>
        <p:spPr>
          <a:xfrm>
            <a:off x="310824" y="1005245"/>
            <a:ext cx="61631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GROUP BY </a:t>
            </a:r>
            <a:br>
              <a:rPr lang="en-IN" sz="2400" b="1" dirty="0"/>
            </a:br>
            <a:endParaRPr lang="en-IN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Group By</a:t>
            </a:r>
            <a:r>
              <a:rPr lang="en-US" sz="2400" dirty="0"/>
              <a:t> is used to </a:t>
            </a:r>
            <a:r>
              <a:rPr lang="en-US" sz="2400" b="1" dirty="0"/>
              <a:t>combine rows with the same values</a:t>
            </a:r>
            <a:r>
              <a:rPr lang="en-US" sz="2400" dirty="0"/>
              <a:t> in one or more columns.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After grouping, it applies </a:t>
            </a:r>
            <a:r>
              <a:rPr lang="en-US" sz="2400" b="1" dirty="0"/>
              <a:t>aggregate functions</a:t>
            </a:r>
            <a:r>
              <a:rPr lang="en-US" sz="2400" dirty="0"/>
              <a:t> to summarize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Similar to </a:t>
            </a:r>
            <a:r>
              <a:rPr lang="en-US" sz="2400" b="1" dirty="0"/>
              <a:t>GROUP BY in SQL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BF9FE6-031A-AAC5-0950-8A01D3125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596" y="1268276"/>
            <a:ext cx="4866645" cy="115465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6CEF08-2D80-FCED-892F-32686A9343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51" t="4173" r="4924" b="7945"/>
          <a:stretch>
            <a:fillRect/>
          </a:stretch>
        </p:blipFill>
        <p:spPr>
          <a:xfrm>
            <a:off x="6602986" y="2922531"/>
            <a:ext cx="5357970" cy="240609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04E82C-E65B-4FEC-7473-534970663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044" y="4125578"/>
            <a:ext cx="6163128" cy="203755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694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B34EF-2E75-5F34-D568-29A6BC894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32BF999-C7F5-B2ED-72B6-4F6B56D9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436" y="79286"/>
            <a:ext cx="2423160" cy="640993"/>
          </a:xfrm>
        </p:spPr>
        <p:txBody>
          <a:bodyPr/>
          <a:lstStyle/>
          <a:p>
            <a:r>
              <a:rPr lang="en-US" sz="4000" b="1" dirty="0"/>
              <a:t>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7ACB8-DDDC-C9C5-7ACC-039AC3853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0DF88-3C6A-B8BF-6D58-08939B3B7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F06AF-A070-D28F-E5F4-4CEE8ADB6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FB2108-C276-444E-ACB8-73971E38F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060" y="1249380"/>
            <a:ext cx="2293411" cy="24870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F8C86B-C761-E632-DE92-C9B61353B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502" y="1408072"/>
            <a:ext cx="2506938" cy="127772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2D43B4-FD65-CB7A-B8DF-72C71902D3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6" t="7877" r="3656" b="5807"/>
          <a:stretch>
            <a:fillRect/>
          </a:stretch>
        </p:blipFill>
        <p:spPr>
          <a:xfrm>
            <a:off x="4732627" y="4172199"/>
            <a:ext cx="4932816" cy="206315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47606E-006F-10E9-320A-1FAD5CDBFF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5471" y="563211"/>
            <a:ext cx="1986947" cy="573157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A77004E-14CE-FDA0-B447-08A6BD3B04CC}"/>
              </a:ext>
            </a:extLst>
          </p:cNvPr>
          <p:cNvSpPr txBox="1"/>
          <p:nvPr/>
        </p:nvSpPr>
        <p:spPr>
          <a:xfrm>
            <a:off x="139582" y="920275"/>
            <a:ext cx="43793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REPLACE VALUES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Finds specific </a:t>
            </a:r>
            <a:r>
              <a:rPr lang="en-US" sz="2000" b="1" dirty="0"/>
              <a:t>text or numbers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Replaces them with </a:t>
            </a:r>
            <a:r>
              <a:rPr lang="en-US" sz="2000" b="1" dirty="0"/>
              <a:t>new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Used for </a:t>
            </a:r>
            <a:r>
              <a:rPr lang="en-US" sz="2000" b="1" dirty="0"/>
              <a:t>data cleaning and correction</a:t>
            </a:r>
            <a:br>
              <a:rPr lang="en-US" sz="2000" b="1" dirty="0"/>
            </a:br>
            <a:endParaRPr lang="en-IN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DATA TYPE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Defines the </a:t>
            </a:r>
            <a:r>
              <a:rPr lang="en-US" sz="2000" b="1" dirty="0"/>
              <a:t>type of data</a:t>
            </a:r>
            <a:r>
              <a:rPr lang="en-US" sz="2000" dirty="0"/>
              <a:t> in a column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Examples: Text, Number, 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Helps Power BI </a:t>
            </a:r>
            <a:r>
              <a:rPr lang="en-US" sz="2000" b="1" dirty="0"/>
              <a:t>process data correctly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USE FIRST ROW AS HEADERS</a:t>
            </a:r>
            <a:r>
              <a:rPr lang="en-US" sz="20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First Row as Headers</a:t>
            </a:r>
            <a:r>
              <a:rPr lang="en-US" sz="2000" dirty="0"/>
              <a:t> – First row becomes column names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 Headers as First Row</a:t>
            </a:r>
            <a:r>
              <a:rPr lang="en-US" sz="2000" dirty="0"/>
              <a:t> – Column names move to first row	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60042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7FEBD-AD25-2C7A-36C8-95F9F4250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19360F1-2B2C-54E2-471A-5E36AF2C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436" y="79286"/>
            <a:ext cx="2423160" cy="640993"/>
          </a:xfrm>
        </p:spPr>
        <p:txBody>
          <a:bodyPr/>
          <a:lstStyle/>
          <a:p>
            <a:r>
              <a:rPr lang="en-US" sz="4000" b="1" dirty="0"/>
              <a:t>HOME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79E1D-BB1E-6418-1660-2D6EE940E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368676-8C67-FA58-208C-2461E5CC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07F8CC-D3D1-39E3-029C-1FD9A5B1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9E32FF-2F67-B065-1E81-9BF2AB90F75D}"/>
              </a:ext>
            </a:extLst>
          </p:cNvPr>
          <p:cNvSpPr txBox="1"/>
          <p:nvPr/>
        </p:nvSpPr>
        <p:spPr>
          <a:xfrm>
            <a:off x="197546" y="707704"/>
            <a:ext cx="530525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Merge Queries 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Merge Query: Combine two table directly into current table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Left Outer: </a:t>
            </a:r>
            <a:r>
              <a:rPr lang="en-US" sz="2000" dirty="0"/>
              <a:t>All from first and matching from second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Right Outer: </a:t>
            </a:r>
            <a:r>
              <a:rPr lang="en-US" sz="2000" dirty="0"/>
              <a:t>All from second matching from first.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Full Outer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Inner: </a:t>
            </a:r>
            <a:r>
              <a:rPr lang="en-US" sz="2000" dirty="0"/>
              <a:t>Only matching rows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Left Anti: </a:t>
            </a:r>
            <a:r>
              <a:rPr lang="en-US" sz="2000" dirty="0"/>
              <a:t>Rows only in first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Right Anti:  </a:t>
            </a:r>
            <a:r>
              <a:rPr lang="en-US" sz="2000" dirty="0"/>
              <a:t>Rows only in second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Merge Query as New : </a:t>
            </a:r>
            <a:r>
              <a:rPr lang="en-US" sz="2000" dirty="0"/>
              <a:t>Create new table merge without change in existing table.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Append Queries : </a:t>
            </a:r>
            <a:r>
              <a:rPr lang="en-US" sz="2000" dirty="0"/>
              <a:t>Adding row from one table</a:t>
            </a:r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Append Query as New : </a:t>
            </a:r>
            <a:r>
              <a:rPr lang="en-US" sz="2000" dirty="0"/>
              <a:t>Combine table into new table.	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DD1897-12C9-FE22-4BBB-C9165713C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204" y="291917"/>
            <a:ext cx="5305250" cy="4187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F62436-79D1-8FD3-0C69-7F1B91D5D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912" y="4668987"/>
            <a:ext cx="4379313" cy="15130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1030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0BB1B-FB79-0CFC-6DCA-9733E8113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A3AB0E9-7330-5399-80AD-57E8CA55A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436" y="79287"/>
            <a:ext cx="3229356" cy="628418"/>
          </a:xfrm>
        </p:spPr>
        <p:txBody>
          <a:bodyPr/>
          <a:lstStyle/>
          <a:p>
            <a:r>
              <a:rPr lang="en-US" sz="4000" b="1" dirty="0"/>
              <a:t>TRANSFORM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21C11-6127-19F3-4442-E7C998E85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D8064-B58E-105B-E2A2-313FB6BC9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45746-65DD-7EE6-0FD9-E8C2F3FC0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550BCF-5BB1-642E-7DC1-B76E1A6354EE}"/>
              </a:ext>
            </a:extLst>
          </p:cNvPr>
          <p:cNvSpPr txBox="1"/>
          <p:nvPr/>
        </p:nvSpPr>
        <p:spPr>
          <a:xfrm>
            <a:off x="106106" y="2364679"/>
            <a:ext cx="49322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TRANSPOSE: </a:t>
            </a:r>
            <a:r>
              <a:rPr lang="en-US" dirty="0"/>
              <a:t>Row as Column and Column as Row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REVERSE ROWS: </a:t>
            </a:r>
            <a:r>
              <a:rPr lang="en-US" dirty="0"/>
              <a:t>Flip order last to first and first to last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COUNT ROWS: </a:t>
            </a:r>
            <a:r>
              <a:rPr lang="en-US" dirty="0"/>
              <a:t>Gives count of the rows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FILL: </a:t>
            </a:r>
            <a:r>
              <a:rPr lang="en-US" dirty="0"/>
              <a:t>Down and Up copy above and below into empty cell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PIVOT:  </a:t>
            </a:r>
            <a:r>
              <a:rPr lang="en-US" dirty="0"/>
              <a:t>Row value to column header</a:t>
            </a:r>
            <a:r>
              <a:rPr lang="en-US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UNPIVOT: </a:t>
            </a:r>
            <a:r>
              <a:rPr lang="en-US" dirty="0"/>
              <a:t>Convert column to row 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MOVE : </a:t>
            </a:r>
            <a:r>
              <a:rPr lang="en-US" dirty="0"/>
              <a:t>Left, Right, To Beginning, To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LIST: </a:t>
            </a:r>
            <a:r>
              <a:rPr lang="en-US" dirty="0"/>
              <a:t>Selected column into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FORMAT: </a:t>
            </a:r>
            <a:r>
              <a:rPr lang="en-US" dirty="0"/>
              <a:t>Lowercase, Uppercase, Capitalize, Trim, Clean, Prefix, Suffix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EXTRACT: </a:t>
            </a:r>
            <a:r>
              <a:rPr lang="en-US" dirty="0"/>
              <a:t>Length, First Character, Last Character, Range, Text Before/After/Between Delimiter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14097A-C33E-4F34-840B-02CE53AC6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46" y="991315"/>
            <a:ext cx="11659610" cy="108975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0A1FB2-E367-3EDF-0981-FDDB3B78C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871" y="5170126"/>
            <a:ext cx="1240717" cy="100211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92F1E5-BE98-FE12-D2B4-E02BAC8CA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963" y="2543386"/>
            <a:ext cx="1181202" cy="105927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BD791D-771A-CC4E-7A39-36AA6CB12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821" y="3858633"/>
            <a:ext cx="2309060" cy="90685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BD27FB-F96F-7237-8041-70925D5C76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9185" y="4968179"/>
            <a:ext cx="1135478" cy="12040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1A2C377-CDCB-BEA7-36E0-2E9191A12F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3205" y="3858633"/>
            <a:ext cx="2011854" cy="10059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B71E87A-C3DB-55F5-44AF-6EA19A160A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8271" y="2618104"/>
            <a:ext cx="1781574" cy="19691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203E2F8-8124-CE35-BD9E-D8EFBD67E0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1726" y="5097316"/>
            <a:ext cx="4439059" cy="123768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FF24CA1-0550-3866-A506-FC614BB1E0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1013" y="2309697"/>
            <a:ext cx="1036410" cy="137934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8164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7B28E-39B5-06CC-9DCD-B0B9FFF07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21B3F8-D52C-7010-C086-4B6D027FF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436" y="79287"/>
            <a:ext cx="4198620" cy="628418"/>
          </a:xfrm>
        </p:spPr>
        <p:txBody>
          <a:bodyPr/>
          <a:lstStyle/>
          <a:p>
            <a:r>
              <a:rPr lang="en-US" sz="4000" b="1" dirty="0"/>
              <a:t>ADD COLUMN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3E757-3ED6-7C70-0B97-8FB96566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B1656-9CA0-204D-F23A-D1F4A0AB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61718-2C41-1844-D50F-E1885D602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F1F0CB-4796-7581-77A5-18AD0FE7FCD2}"/>
              </a:ext>
            </a:extLst>
          </p:cNvPr>
          <p:cNvSpPr txBox="1"/>
          <p:nvPr/>
        </p:nvSpPr>
        <p:spPr>
          <a:xfrm>
            <a:off x="167783" y="2557892"/>
            <a:ext cx="53817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Column From Examples: </a:t>
            </a:r>
            <a:r>
              <a:rPr lang="en-US" dirty="0"/>
              <a:t>Create a new column by learning pattern from sample value</a:t>
            </a:r>
            <a:r>
              <a:rPr lang="en-US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Custom Column: </a:t>
            </a:r>
            <a:r>
              <a:rPr lang="en-US" dirty="0"/>
              <a:t>Adds a new column using </a:t>
            </a:r>
            <a:r>
              <a:rPr lang="en-US" b="1" dirty="0"/>
              <a:t>user-defined formulas</a:t>
            </a:r>
            <a:r>
              <a:rPr lang="en-US" dirty="0"/>
              <a:t> to transform data, such as </a:t>
            </a:r>
            <a:r>
              <a:rPr lang="en-US" b="1" dirty="0"/>
              <a:t>reversing text, calculations, or conditional logic</a:t>
            </a:r>
            <a:r>
              <a:rPr lang="en-US" dirty="0"/>
              <a:t>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Index Column : </a:t>
            </a:r>
            <a:r>
              <a:rPr lang="en-US" dirty="0"/>
              <a:t>Adds a </a:t>
            </a:r>
            <a:r>
              <a:rPr lang="en-US" b="1" dirty="0"/>
              <a:t>sequential row number</a:t>
            </a:r>
            <a:r>
              <a:rPr lang="en-US" dirty="0"/>
              <a:t> to the table to uniquely identify or order rows.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Conditional Column: </a:t>
            </a:r>
            <a:r>
              <a:rPr lang="en-US" dirty="0"/>
              <a:t>Creates a column based on </a:t>
            </a:r>
            <a:r>
              <a:rPr lang="en-US" b="1" dirty="0"/>
              <a:t>if–then–else conditions</a:t>
            </a:r>
            <a:r>
              <a:rPr lang="en-US" dirty="0"/>
              <a:t>; for filling missing values from adjacent rows, </a:t>
            </a:r>
            <a:r>
              <a:rPr lang="en-US" b="1" dirty="0"/>
              <a:t>Fill Up or Fill Down</a:t>
            </a:r>
            <a:r>
              <a:rPr lang="en-US" dirty="0"/>
              <a:t> is used instead.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Duplicate Column: </a:t>
            </a:r>
            <a:r>
              <a:rPr lang="en-US" dirty="0"/>
              <a:t>Creates a copy of an existing column, often used when </a:t>
            </a:r>
            <a:r>
              <a:rPr lang="en-US" b="1" dirty="0"/>
              <a:t>row values need to be transformed into column headers</a:t>
            </a:r>
            <a:r>
              <a:rPr lang="en-US" dirty="0"/>
              <a:t> (typically followed by a </a:t>
            </a:r>
            <a:r>
              <a:rPr lang="en-US" b="1" dirty="0"/>
              <a:t>Pivot</a:t>
            </a:r>
            <a:r>
              <a:rPr lang="en-US" dirty="0"/>
              <a:t> operation).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B8367F-6469-5DA2-AEAA-E0B8F24CF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791" y="899447"/>
            <a:ext cx="8192210" cy="113547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FB7A8F-D319-F56F-BE9E-0578543E7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890" y="2399667"/>
            <a:ext cx="1783235" cy="12040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CEA8FD-42BA-FC3A-F466-679EAA80A0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896" y="3853748"/>
            <a:ext cx="3966752" cy="251102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3BA3BC7-A763-5C97-41B0-EA605A66A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3043" y="1337340"/>
            <a:ext cx="1363700" cy="494568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24ACE06-E0F7-1FC2-608F-16BC2BD5F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9781" y="2414908"/>
            <a:ext cx="1135478" cy="11735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8730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5323E-1C9B-633D-62D1-CFB60912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A0BAE38-0315-EE51-237E-0679B9542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843" y="33571"/>
            <a:ext cx="7133844" cy="226128"/>
          </a:xfrm>
        </p:spPr>
        <p:txBody>
          <a:bodyPr/>
          <a:lstStyle/>
          <a:p>
            <a:pPr lvl="0">
              <a:lnSpc>
                <a:spcPts val="6694"/>
              </a:lnSpc>
            </a:pP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MODEL</a:t>
            </a:r>
            <a:r>
              <a:rPr lang="en-US" sz="4000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 </a:t>
            </a: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BUILDING</a:t>
            </a:r>
            <a:r>
              <a:rPr lang="en-US" sz="4000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 </a:t>
            </a: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PHASE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7AFE0-53B0-0A0A-A8EA-D325914B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CD259-1852-8654-0A91-6FECC5A36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9BA30-387E-12B3-E26F-2D4A5D987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B82F3F-97FB-2E00-3CDC-8CBAFC5AE865}"/>
              </a:ext>
            </a:extLst>
          </p:cNvPr>
          <p:cNvSpPr txBox="1"/>
          <p:nvPr/>
        </p:nvSpPr>
        <p:spPr>
          <a:xfrm>
            <a:off x="-223891" y="1094594"/>
            <a:ext cx="612177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Data Modeling</a:t>
            </a:r>
            <a:r>
              <a:rPr lang="en-US" sz="2400" dirty="0"/>
              <a:t> means organizing data into </a:t>
            </a:r>
            <a:r>
              <a:rPr lang="en-US" sz="2400" b="1" dirty="0"/>
              <a:t>tables</a:t>
            </a:r>
            <a:r>
              <a:rPr lang="en-US" sz="2400" dirty="0"/>
              <a:t> and connecting them so </a:t>
            </a:r>
            <a:r>
              <a:rPr lang="en-US" sz="2400" b="1" dirty="0"/>
              <a:t>Power BI understands how data is related</a:t>
            </a:r>
            <a:r>
              <a:rPr lang="en-US" sz="2400" dirty="0"/>
              <a:t> and can create accurate reports and visuals.</a:t>
            </a:r>
            <a:r>
              <a:rPr lang="en-US" sz="2000" dirty="0"/>
              <a:t>	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A5AD85-CBA1-4593-EB74-03579B347926}"/>
              </a:ext>
            </a:extLst>
          </p:cNvPr>
          <p:cNvSpPr txBox="1"/>
          <p:nvPr/>
        </p:nvSpPr>
        <p:spPr>
          <a:xfrm>
            <a:off x="254957" y="2743200"/>
            <a:ext cx="5491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There are </a:t>
            </a:r>
            <a:r>
              <a:rPr lang="en-US" sz="2400" b="1" dirty="0"/>
              <a:t>two main types of tables</a:t>
            </a:r>
            <a:r>
              <a:rPr lang="en-US" sz="2400" dirty="0"/>
              <a:t> used while building a data model:</a:t>
            </a:r>
          </a:p>
          <a:p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Fact Table</a:t>
            </a:r>
            <a:r>
              <a:rPr lang="en-IN" sz="2400" dirty="0"/>
              <a:t>: Measurable Quantitative Data Referential Integrity and Duplicate data is there </a:t>
            </a:r>
            <a:br>
              <a:rPr lang="en-IN" sz="2400" dirty="0"/>
            </a:b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Dimension Table</a:t>
            </a:r>
            <a:r>
              <a:rPr lang="en-IN" sz="2400" dirty="0"/>
              <a:t>: Stores </a:t>
            </a:r>
            <a:r>
              <a:rPr lang="en-IN" sz="2400" b="1" dirty="0"/>
              <a:t>descriptive information, using aggregate function </a:t>
            </a:r>
            <a:endParaRPr lang="en-IN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BFF832-AC89-7A46-2B87-0CDEE6BEE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652" y="1664288"/>
            <a:ext cx="5980055" cy="398670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91423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C317B-76C4-3514-286E-4E9C40DE1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804BB4-1B70-8AC6-4838-A16D721D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843" y="33571"/>
            <a:ext cx="7133844" cy="226128"/>
          </a:xfrm>
        </p:spPr>
        <p:txBody>
          <a:bodyPr/>
          <a:lstStyle/>
          <a:p>
            <a:pPr lvl="0">
              <a:lnSpc>
                <a:spcPts val="6694"/>
              </a:lnSpc>
            </a:pP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TYPES OF RELATIONSHIP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9BD99-E107-0741-0193-300A67E2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FDC9D5-96E2-7606-CD56-2DB2C861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7A823F-AD95-D7CF-62C2-47FF623C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10188E-2655-93FF-5CC4-28476EA898CC}"/>
              </a:ext>
            </a:extLst>
          </p:cNvPr>
          <p:cNvSpPr txBox="1"/>
          <p:nvPr/>
        </p:nvSpPr>
        <p:spPr>
          <a:xfrm>
            <a:off x="0" y="1077820"/>
            <a:ext cx="118733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/>
              <a:t>In data modeling, </a:t>
            </a:r>
            <a:r>
              <a:rPr lang="en-US" sz="2800" b="1" dirty="0"/>
              <a:t>relationships define how tables are connected</a:t>
            </a:r>
            <a:r>
              <a:rPr lang="en-US" sz="2800" dirty="0"/>
              <a:t>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There are </a:t>
            </a:r>
            <a:r>
              <a:rPr lang="en-US" sz="2800" b="1" dirty="0"/>
              <a:t>four main types of relationships</a:t>
            </a:r>
            <a:r>
              <a:rPr lang="en-US" sz="2800" dirty="0"/>
              <a:t>, also called </a:t>
            </a:r>
            <a:r>
              <a:rPr lang="en-US" sz="2800" b="1" dirty="0"/>
              <a:t>cardinality ratios</a:t>
            </a:r>
            <a:r>
              <a:rPr lang="en-US" sz="2800" dirty="0"/>
              <a:t>:</a:t>
            </a:r>
            <a:r>
              <a:rPr lang="en-US" sz="2400" dirty="0"/>
              <a:t>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9F35E-3F73-850B-BF34-FC2010B672BE}"/>
              </a:ext>
            </a:extLst>
          </p:cNvPr>
          <p:cNvSpPr txBox="1"/>
          <p:nvPr/>
        </p:nvSpPr>
        <p:spPr>
          <a:xfrm>
            <a:off x="159327" y="2871216"/>
            <a:ext cx="117140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One-to-Many (1 : *) : </a:t>
            </a:r>
            <a:r>
              <a:rPr lang="en-US" sz="2800" b="1" dirty="0"/>
              <a:t>One record in a dimension table</a:t>
            </a:r>
            <a:r>
              <a:rPr lang="en-US" sz="2800" dirty="0"/>
              <a:t> is linked to </a:t>
            </a:r>
            <a:r>
              <a:rPr lang="en-US" sz="2800" b="1" dirty="0"/>
              <a:t>many records in a fact table</a:t>
            </a:r>
            <a:r>
              <a:rPr lang="en-US" sz="2800" dirty="0"/>
              <a:t>.</a:t>
            </a:r>
            <a:endParaRPr lang="en-IN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Many-to-One (* : 1): </a:t>
            </a:r>
            <a:r>
              <a:rPr lang="en-US" sz="2800" dirty="0"/>
              <a:t>This is the </a:t>
            </a:r>
            <a:r>
              <a:rPr lang="en-US" sz="2800" b="1" dirty="0"/>
              <a:t>reverse view</a:t>
            </a:r>
            <a:r>
              <a:rPr lang="en-US" sz="2800" dirty="0"/>
              <a:t> of One-to-Many.</a:t>
            </a:r>
            <a:endParaRPr lang="en-IN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Many-to-Many (* : *): </a:t>
            </a:r>
            <a:r>
              <a:rPr lang="en-US" sz="2800" b="1" dirty="0"/>
              <a:t>Both tables contain repeated values</a:t>
            </a:r>
            <a:r>
              <a:rPr lang="en-US" sz="2800" dirty="0"/>
              <a:t>.</a:t>
            </a:r>
            <a:endParaRPr lang="en-IN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One-to-One (1 : 1):  </a:t>
            </a:r>
            <a:r>
              <a:rPr lang="en-US" sz="2800" b="1" dirty="0"/>
              <a:t>Each record in one table matches exactly one record</a:t>
            </a:r>
            <a:r>
              <a:rPr lang="en-US" sz="2800" dirty="0"/>
              <a:t> in the other table.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74059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F8435-4736-8B99-E513-98ACADDAC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591BC3D-D895-408E-4A57-627E9D30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843" y="33571"/>
            <a:ext cx="7133844" cy="226128"/>
          </a:xfrm>
        </p:spPr>
        <p:txBody>
          <a:bodyPr/>
          <a:lstStyle/>
          <a:p>
            <a:pPr lvl="0">
              <a:lnSpc>
                <a:spcPts val="6694"/>
              </a:lnSpc>
            </a:pP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TYPES OF SCHEMA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ABF2B-15A3-7B0D-04C0-305D365C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8FCF21-8B9F-ED23-F957-402876FF7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CDEB69-01B0-ACB5-7776-E7BDAD00F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E35409-68D0-BD50-F63D-F9DD51085DF1}"/>
              </a:ext>
            </a:extLst>
          </p:cNvPr>
          <p:cNvSpPr txBox="1"/>
          <p:nvPr/>
        </p:nvSpPr>
        <p:spPr>
          <a:xfrm>
            <a:off x="-128015" y="1142020"/>
            <a:ext cx="52852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/>
              <a:t>A </a:t>
            </a:r>
            <a:r>
              <a:rPr lang="en-US" sz="2000" b="1" dirty="0"/>
              <a:t>schema</a:t>
            </a:r>
            <a:r>
              <a:rPr lang="en-US" sz="2000" dirty="0"/>
              <a:t> defines </a:t>
            </a:r>
            <a:r>
              <a:rPr lang="en-US" sz="2000" b="1" dirty="0"/>
              <a:t>how tables are structured and connected</a:t>
            </a:r>
            <a:r>
              <a:rPr lang="en-US" sz="2000" dirty="0"/>
              <a:t> in a data model.</a:t>
            </a:r>
            <a:br>
              <a:rPr lang="en-US" sz="2000" dirty="0"/>
            </a:br>
            <a:r>
              <a:rPr lang="en-US" sz="2000" dirty="0"/>
              <a:t>Choosing the right schema helps improve </a:t>
            </a:r>
            <a:r>
              <a:rPr lang="en-US" sz="2000" b="1" dirty="0"/>
              <a:t>performance, readability, and maintenance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pPr lvl="1"/>
            <a:r>
              <a:rPr lang="en-US" sz="2000" dirty="0"/>
              <a:t>There are </a:t>
            </a:r>
            <a:r>
              <a:rPr lang="en-US" sz="2000" b="1" dirty="0"/>
              <a:t>three main types of schemas</a:t>
            </a:r>
            <a:r>
              <a:rPr lang="en-US" sz="2000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FE757-E17F-7D86-5807-4ED6140AD260}"/>
              </a:ext>
            </a:extLst>
          </p:cNvPr>
          <p:cNvSpPr txBox="1"/>
          <p:nvPr/>
        </p:nvSpPr>
        <p:spPr>
          <a:xfrm>
            <a:off x="16072" y="3334109"/>
            <a:ext cx="51411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FLAT SCHEMA </a:t>
            </a:r>
            <a:r>
              <a:rPr lang="en-IN" sz="2000" dirty="0"/>
              <a:t>(Denormalized Schema): </a:t>
            </a:r>
            <a:r>
              <a:rPr lang="en-US" sz="2000" dirty="0"/>
              <a:t>All data is stored in </a:t>
            </a:r>
            <a:r>
              <a:rPr lang="en-US" sz="2000" b="1" dirty="0"/>
              <a:t>one single table,</a:t>
            </a:r>
            <a:r>
              <a:rPr lang="en-IN" sz="2000" dirty="0"/>
              <a:t> Data is </a:t>
            </a:r>
            <a:r>
              <a:rPr lang="en-IN" sz="2000" b="1" dirty="0"/>
              <a:t>denormalized.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STAR SCHEMA</a:t>
            </a:r>
            <a:r>
              <a:rPr lang="en-IN" sz="2000" dirty="0"/>
              <a:t>: One central fact table and multiple dimension 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SNOWFLAKE SCHEMA </a:t>
            </a:r>
            <a:r>
              <a:rPr lang="en-IN" sz="2000" dirty="0"/>
              <a:t>: Fact table at the centre dimension table are further split into sub dimension table and highly  normalised structure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AC2A05-00D3-24F4-601E-92074BC46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787" y="3881288"/>
            <a:ext cx="3914177" cy="24463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CC139A-B514-5F97-E952-61173A08E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591" y="1015539"/>
            <a:ext cx="3898289" cy="25988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4160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F9055-2AF9-ABA4-5AD1-103D53332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C6C426-8931-5EC7-2438-0F20D83E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930" y="33571"/>
            <a:ext cx="8042461" cy="880804"/>
          </a:xfrm>
        </p:spPr>
        <p:txBody>
          <a:bodyPr/>
          <a:lstStyle/>
          <a:p>
            <a:pPr lvl="0">
              <a:lnSpc>
                <a:spcPts val="6694"/>
              </a:lnSpc>
            </a:pP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MODEL ENHANCEMENT</a:t>
            </a:r>
            <a:r>
              <a:rPr lang="en-US" sz="4000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 </a:t>
            </a: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PHASE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DC821-64D5-7D83-0A9A-08A42873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9C0187-DDEC-3C14-99DB-8B4FB88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1D749-4720-8DD6-222A-423AA497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B1D76E-E120-44FC-10A2-3C7B558D57B7}"/>
              </a:ext>
            </a:extLst>
          </p:cNvPr>
          <p:cNvSpPr txBox="1"/>
          <p:nvPr/>
        </p:nvSpPr>
        <p:spPr>
          <a:xfrm>
            <a:off x="111702" y="1045815"/>
            <a:ext cx="575265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Enhancement means </a:t>
            </a:r>
            <a:r>
              <a:rPr lang="en-US" b="1" dirty="0"/>
              <a:t>improving the data model</a:t>
            </a:r>
            <a:r>
              <a:rPr lang="en-US" dirty="0"/>
              <a:t> by refining relationships, optimizing tables, and adding calculations so Power BI delivers </a:t>
            </a:r>
            <a:r>
              <a:rPr lang="en-US" b="1" dirty="0"/>
              <a:t>faster, more accurate, and meaningful reports</a:t>
            </a:r>
            <a:r>
              <a:rPr lang="en-US" dirty="0"/>
              <a:t>.</a:t>
            </a:r>
          </a:p>
          <a:p>
            <a:br>
              <a:rPr lang="en-US" sz="2000" dirty="0"/>
            </a:b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C1CCB-5FC2-60B7-3121-F816F23CF60E}"/>
              </a:ext>
            </a:extLst>
          </p:cNvPr>
          <p:cNvSpPr txBox="1"/>
          <p:nvPr/>
        </p:nvSpPr>
        <p:spPr>
          <a:xfrm>
            <a:off x="111702" y="2030700"/>
            <a:ext cx="72766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New Measure: </a:t>
            </a:r>
            <a:r>
              <a:rPr lang="en-US" dirty="0"/>
              <a:t>A </a:t>
            </a:r>
            <a:r>
              <a:rPr lang="en-US" b="1" dirty="0"/>
              <a:t>New Measure</a:t>
            </a:r>
            <a:r>
              <a:rPr lang="en-US" dirty="0"/>
              <a:t> is a DAX calculation that is evaluated </a:t>
            </a:r>
            <a:r>
              <a:rPr lang="en-US" b="1" dirty="0"/>
              <a:t>at query time</a:t>
            </a:r>
            <a:r>
              <a:rPr lang="en-US" dirty="0"/>
              <a:t> and changes dynamically based on filters, slicers, and visuals.</a:t>
            </a:r>
          </a:p>
          <a:p>
            <a:r>
              <a:rPr lang="en-US" b="1" dirty="0"/>
              <a:t>	Example Total Sales = SUM(Sales[</a:t>
            </a:r>
            <a:r>
              <a:rPr lang="en-US" b="1" dirty="0" err="1"/>
              <a:t>SalesAmount</a:t>
            </a:r>
            <a:r>
              <a:rPr lang="en-US" b="1" dirty="0"/>
              <a:t>])</a:t>
            </a:r>
            <a:br>
              <a:rPr lang="en-US" b="1" dirty="0"/>
            </a:br>
            <a:endParaRPr lang="en-US" b="1" dirty="0"/>
          </a:p>
          <a:p>
            <a:r>
              <a:rPr lang="en-IN" b="1" dirty="0"/>
              <a:t>Quick Measure: </a:t>
            </a:r>
            <a:r>
              <a:rPr lang="en-US" dirty="0"/>
              <a:t>A </a:t>
            </a:r>
            <a:r>
              <a:rPr lang="en-US" b="1" dirty="0"/>
              <a:t>Quick Measure</a:t>
            </a:r>
            <a:r>
              <a:rPr lang="en-US" dirty="0"/>
              <a:t> is an automatically generated DAX measure created by Power BI using built-in templates without writing DAX manually.</a:t>
            </a:r>
            <a:br>
              <a:rPr lang="en-US" dirty="0"/>
            </a:br>
            <a:endParaRPr lang="en-US" dirty="0"/>
          </a:p>
          <a:p>
            <a:r>
              <a:rPr lang="en-IN" b="1" dirty="0"/>
              <a:t>New Column: </a:t>
            </a:r>
            <a:r>
              <a:rPr lang="en-US" dirty="0"/>
              <a:t>A </a:t>
            </a:r>
            <a:r>
              <a:rPr lang="en-US" b="1" dirty="0"/>
              <a:t>New Column</a:t>
            </a:r>
            <a:r>
              <a:rPr lang="en-US" dirty="0"/>
              <a:t> is a DAX calculation that is evaluated </a:t>
            </a:r>
            <a:r>
              <a:rPr lang="en-US" b="1" dirty="0"/>
              <a:t>row by row</a:t>
            </a:r>
            <a:r>
              <a:rPr lang="en-US" dirty="0"/>
              <a:t> and stored permanently in the table.</a:t>
            </a:r>
          </a:p>
          <a:p>
            <a:r>
              <a:rPr lang="en-IN" b="1" dirty="0"/>
              <a:t>	Example : </a:t>
            </a:r>
            <a:r>
              <a:rPr lang="en-US" b="1" dirty="0"/>
              <a:t>Profit = Sales[Revenue] - Sales[Cost]</a:t>
            </a:r>
          </a:p>
          <a:p>
            <a:endParaRPr lang="en-US" b="1" dirty="0"/>
          </a:p>
          <a:p>
            <a:r>
              <a:rPr lang="en-IN" b="1" dirty="0"/>
              <a:t>New Table: </a:t>
            </a:r>
            <a:r>
              <a:rPr lang="en-US" dirty="0"/>
              <a:t>A </a:t>
            </a:r>
            <a:r>
              <a:rPr lang="en-US" b="1" dirty="0"/>
              <a:t>New Table</a:t>
            </a:r>
            <a:r>
              <a:rPr lang="en-US" dirty="0"/>
              <a:t> is a table created using DAX that stores calculated or summarized data for modeling and analysis.</a:t>
            </a:r>
          </a:p>
          <a:p>
            <a:r>
              <a:rPr lang="en-IN" b="1" dirty="0"/>
              <a:t>	Example: </a:t>
            </a:r>
            <a:r>
              <a:rPr lang="en-US" b="1" dirty="0"/>
              <a:t>Sales Summary = SUMMARIZE(Sales, Sales[Year], "Total Sales", SUM(Sales[</a:t>
            </a:r>
            <a:r>
              <a:rPr lang="en-US" b="1" dirty="0" err="1"/>
              <a:t>SalesAmount</a:t>
            </a:r>
            <a:r>
              <a:rPr lang="en-US" b="1" dirty="0"/>
              <a:t>]))</a:t>
            </a:r>
          </a:p>
          <a:p>
            <a:endParaRPr lang="en-IN" b="1" dirty="0"/>
          </a:p>
          <a:p>
            <a:endParaRPr lang="en-US" b="1" dirty="0"/>
          </a:p>
          <a:p>
            <a:endParaRPr lang="en-IN" b="1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3DC39D-B2CB-C459-1CB3-761A17EC8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905" y="3309473"/>
            <a:ext cx="4370680" cy="28809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0198B3-0DDA-4A42-ABB2-C1974B4F1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029" y="1318202"/>
            <a:ext cx="2594772" cy="142499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9291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658432-1239-8126-6269-C48135F06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A9D2D53-1BA4-E95B-9093-E3F8C88AC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930" y="33571"/>
            <a:ext cx="8042461" cy="880804"/>
          </a:xfrm>
        </p:spPr>
        <p:txBody>
          <a:bodyPr/>
          <a:lstStyle/>
          <a:p>
            <a:pPr lvl="0">
              <a:lnSpc>
                <a:spcPts val="6694"/>
              </a:lnSpc>
            </a:pP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DAX - DATA ANALYSIS EXPRESSION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994F2-9880-D9E5-9BA1-9C38B23D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729F57-D07E-57C1-D662-E640483E0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90BA9-0FA9-1579-7935-279022F3A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7EFF51-B18E-DA97-60C5-CA6D443F74EA}"/>
              </a:ext>
            </a:extLst>
          </p:cNvPr>
          <p:cNvSpPr txBox="1"/>
          <p:nvPr/>
        </p:nvSpPr>
        <p:spPr>
          <a:xfrm>
            <a:off x="322013" y="1329495"/>
            <a:ext cx="575265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DAX</a:t>
            </a:r>
            <a:r>
              <a:rPr lang="en-US" sz="2400" dirty="0"/>
              <a:t> is a </a:t>
            </a:r>
            <a:r>
              <a:rPr lang="en-US" sz="2400" b="1" dirty="0"/>
              <a:t>formula language</a:t>
            </a:r>
            <a:r>
              <a:rPr lang="en-US" sz="2400" dirty="0"/>
              <a:t> used in </a:t>
            </a:r>
            <a:r>
              <a:rPr lang="en-US" sz="2400" b="1" dirty="0"/>
              <a:t>Power BI, Excel Power Pivot, and SSAS Tabular models</a:t>
            </a:r>
            <a:r>
              <a:rPr lang="en-US" sz="2400" dirty="0"/>
              <a:t> to create calculations and data analysis logic.</a:t>
            </a:r>
            <a:endParaRPr lang="en-US" sz="2800" dirty="0"/>
          </a:p>
          <a:p>
            <a:br>
              <a:rPr lang="en-US" sz="2400" dirty="0"/>
            </a:b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4A537-44FF-3C0D-A8DB-96C33167C9FE}"/>
              </a:ext>
            </a:extLst>
          </p:cNvPr>
          <p:cNvSpPr txBox="1"/>
          <p:nvPr/>
        </p:nvSpPr>
        <p:spPr>
          <a:xfrm>
            <a:off x="69566" y="2743200"/>
            <a:ext cx="64293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Calculated Column: </a:t>
            </a:r>
            <a:r>
              <a:rPr lang="en-US" sz="2000" dirty="0"/>
              <a:t>A calculated column is created </a:t>
            </a:r>
            <a:r>
              <a:rPr lang="en-US" sz="2000" b="1" dirty="0"/>
              <a:t>row by row</a:t>
            </a:r>
            <a:r>
              <a:rPr lang="en-US" sz="2000" dirty="0"/>
              <a:t> in a table using DAX and is </a:t>
            </a:r>
            <a:r>
              <a:rPr lang="en-US" sz="2000" b="1" dirty="0"/>
              <a:t>stored in the data model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	Example : Total Price = Sales[Quantity] * Sales[Unit Price]</a:t>
            </a:r>
          </a:p>
          <a:p>
            <a:endParaRPr lang="en-US" sz="2000" dirty="0"/>
          </a:p>
          <a:p>
            <a:r>
              <a:rPr lang="en-IN" sz="2000" b="1" dirty="0"/>
              <a:t>Calculated Measure: </a:t>
            </a:r>
            <a:r>
              <a:rPr lang="en-US" sz="2000" dirty="0"/>
              <a:t>A calculated measure is computed </a:t>
            </a:r>
            <a:r>
              <a:rPr lang="en-US" sz="2000" b="1" dirty="0"/>
              <a:t>at query time</a:t>
            </a:r>
            <a:r>
              <a:rPr lang="en-US" sz="2000" dirty="0"/>
              <a:t> based on filters and visuals and is </a:t>
            </a:r>
            <a:r>
              <a:rPr lang="en-US" sz="2000" b="1" dirty="0"/>
              <a:t>not stored in the table</a:t>
            </a:r>
            <a:r>
              <a:rPr lang="en-US" sz="2000" dirty="0"/>
              <a:t>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	Example : Total Sales = SUM(Sales[Sales Amount])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AEF320-78C9-92A5-0030-D3C968D3F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874" y="1748979"/>
            <a:ext cx="5468971" cy="364598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99378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6E493-3B1B-0A9E-B1F2-E12636F0C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CE47A56-2C3D-8BF2-AB91-84FB21DC9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930" y="33571"/>
            <a:ext cx="8042461" cy="880804"/>
          </a:xfrm>
        </p:spPr>
        <p:txBody>
          <a:bodyPr/>
          <a:lstStyle/>
          <a:p>
            <a:pPr lvl="0">
              <a:lnSpc>
                <a:spcPts val="6694"/>
              </a:lnSpc>
            </a:pP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CALCULATED COLUMN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F6C9B-A6CF-3BA5-D0B2-1B99EB43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751FF-15A5-E68F-F459-84906D90B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67D1B2-C084-8D31-147B-B5E3523A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0B5D75-65BF-9690-6769-05643FED11E9}"/>
              </a:ext>
            </a:extLst>
          </p:cNvPr>
          <p:cNvSpPr txBox="1"/>
          <p:nvPr/>
        </p:nvSpPr>
        <p:spPr>
          <a:xfrm>
            <a:off x="322013" y="1329495"/>
            <a:ext cx="518267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Calculate customer age from </a:t>
            </a:r>
            <a:r>
              <a:rPr lang="en-US" sz="2400" b="1" dirty="0" err="1"/>
              <a:t>BirthDate</a:t>
            </a:r>
            <a:r>
              <a:rPr lang="en-US" sz="2400" dirty="0"/>
              <a:t> (row-by-row calculation)</a:t>
            </a:r>
          </a:p>
          <a:p>
            <a:br>
              <a:rPr lang="en-US" sz="2400" dirty="0"/>
            </a:b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9ECBB-0C8D-1B21-75A3-F8F37AAE351B}"/>
              </a:ext>
            </a:extLst>
          </p:cNvPr>
          <p:cNvSpPr txBox="1"/>
          <p:nvPr/>
        </p:nvSpPr>
        <p:spPr>
          <a:xfrm>
            <a:off x="258006" y="2403436"/>
            <a:ext cx="29515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Age is calculated </a:t>
            </a:r>
            <a:r>
              <a:rPr lang="en-US" sz="2000" b="1" dirty="0"/>
              <a:t>per customer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Stored in the 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Does not change with filters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DAX FUNCTION </a:t>
            </a:r>
            <a:r>
              <a:rPr lang="en-US" sz="2000" dirty="0"/>
              <a:t>: Customer Age =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DATEDIFF(</a:t>
            </a:r>
            <a:r>
              <a:rPr lang="en-US" sz="2000" dirty="0" err="1"/>
              <a:t>DimCustomer</a:t>
            </a:r>
            <a:r>
              <a:rPr lang="en-US" sz="2000" dirty="0"/>
              <a:t>[</a:t>
            </a:r>
            <a:r>
              <a:rPr lang="en-US" sz="2000" dirty="0" err="1"/>
              <a:t>BirthDate</a:t>
            </a:r>
            <a:r>
              <a:rPr lang="en-US" sz="2000" dirty="0"/>
              <a:t>], TODAY(), YEAR)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09C72B-11DC-38AC-4851-3F8BC7195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1" y="1988316"/>
            <a:ext cx="8655552" cy="396468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1511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78550-0AD6-B1A1-A54B-4349E9DD0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F730C7C-CA12-0E9D-9826-FC5063ED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930" y="33571"/>
            <a:ext cx="8042461" cy="880804"/>
          </a:xfrm>
        </p:spPr>
        <p:txBody>
          <a:bodyPr/>
          <a:lstStyle/>
          <a:p>
            <a:pPr lvl="0">
              <a:lnSpc>
                <a:spcPts val="6694"/>
              </a:lnSpc>
            </a:pP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FUNCTIONS IN DAX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6041B-9DD7-E32C-4C34-3B1CAEF6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69916-C45F-3FAD-297D-E4D9E86C6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F0F991-9E08-24FA-1B41-30A572C1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6A338B-AA2B-E09B-540D-31EEF2AAC88C}"/>
              </a:ext>
            </a:extLst>
          </p:cNvPr>
          <p:cNvSpPr txBox="1"/>
          <p:nvPr/>
        </p:nvSpPr>
        <p:spPr>
          <a:xfrm>
            <a:off x="13674" y="1140778"/>
            <a:ext cx="382008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DATE &amp; TIME FUNCTION – TODAY(): </a:t>
            </a:r>
            <a:r>
              <a:rPr lang="en-IN" sz="2000" dirty="0"/>
              <a:t>Returns the current date.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TEXT FUNCTION – CONCATENATE(): </a:t>
            </a:r>
            <a:r>
              <a:rPr lang="en-US" sz="2000" dirty="0"/>
              <a:t>Joins two text values into 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LOGICAL FUNCTION – IF(): </a:t>
            </a:r>
            <a:r>
              <a:rPr lang="en-IN" sz="2000" dirty="0"/>
              <a:t>Applies condition-based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FILTER FUNCTION – CALCULATE(): </a:t>
            </a:r>
            <a:r>
              <a:rPr lang="en-IN" sz="2000" dirty="0"/>
              <a:t>Modifies filter context to calculate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INFORMATION FUNCTION – ISBLANK(): </a:t>
            </a:r>
            <a:r>
              <a:rPr lang="en-US" sz="2000" dirty="0"/>
              <a:t>Checks whether a value is blank.</a:t>
            </a:r>
          </a:p>
          <a:p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601387-0FA1-F63A-BDED-C49DF6F46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763" y="1296539"/>
            <a:ext cx="4766433" cy="31776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D5CDBC-D261-281F-D2A9-247F3EF72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841" y="4828032"/>
            <a:ext cx="2545301" cy="36579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0BF3F3-61D3-7949-5F62-A50E72829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5782584"/>
            <a:ext cx="6299276" cy="3761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194E6E1-FBFB-F397-6FB2-AA8852D707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598" y="4856326"/>
            <a:ext cx="3718882" cy="10066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A31B8EB-E21C-17EF-C3EB-0CAFF0E335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6290" y="2570405"/>
            <a:ext cx="3203428" cy="99188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4C9C853-4861-09E5-7840-B0AE7D3A21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9428" y="1068168"/>
            <a:ext cx="2696332" cy="99188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8015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6E2DE-145F-D131-935F-497DEC1FA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6FFE7C6-7177-89AD-C2D9-05A8C57FE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930" y="33571"/>
            <a:ext cx="8042461" cy="880804"/>
          </a:xfrm>
        </p:spPr>
        <p:txBody>
          <a:bodyPr/>
          <a:lstStyle/>
          <a:p>
            <a:pPr lvl="0">
              <a:lnSpc>
                <a:spcPts val="6694"/>
              </a:lnSpc>
            </a:pP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TIME INTELLIGENCE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BC83E-8FAA-45E3-19BE-CAF645C2D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5AE0F-05BF-D1D6-58E6-BCDEFDFC9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147F7-082B-8C29-110A-A8D934512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7B97F-272C-E6E8-D174-218662732BDA}"/>
              </a:ext>
            </a:extLst>
          </p:cNvPr>
          <p:cNvSpPr txBox="1"/>
          <p:nvPr/>
        </p:nvSpPr>
        <p:spPr>
          <a:xfrm>
            <a:off x="176234" y="1547179"/>
            <a:ext cx="584864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TOTAL YTD: </a:t>
            </a:r>
            <a:r>
              <a:rPr lang="en-US" sz="2400" dirty="0"/>
              <a:t>Calculates the total from the </a:t>
            </a:r>
            <a:r>
              <a:rPr lang="en-US" sz="2400" b="1" dirty="0"/>
              <a:t>start of the year</a:t>
            </a:r>
            <a:r>
              <a:rPr lang="en-US" sz="2400" dirty="0"/>
              <a:t> to the selected date.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TOTAL QTD: </a:t>
            </a:r>
            <a:r>
              <a:rPr lang="en-US" sz="2400" dirty="0"/>
              <a:t>Calculates the total from the </a:t>
            </a:r>
            <a:r>
              <a:rPr lang="en-US" sz="2400" b="1" dirty="0"/>
              <a:t>start of the quarter</a:t>
            </a:r>
            <a:r>
              <a:rPr lang="en-US" sz="2400" dirty="0"/>
              <a:t> to the selected date.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TOTAL MTD: </a:t>
            </a:r>
            <a:r>
              <a:rPr lang="en-US" sz="2400" dirty="0"/>
              <a:t>Calculates the total from the </a:t>
            </a:r>
            <a:r>
              <a:rPr lang="en-US" sz="2400" b="1" dirty="0"/>
              <a:t>start of the month</a:t>
            </a:r>
            <a:r>
              <a:rPr lang="en-US" sz="2400" dirty="0"/>
              <a:t> to the selected date.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SAMEPERIODLASTYEAR: </a:t>
            </a:r>
            <a:r>
              <a:rPr lang="en-US" sz="2400" dirty="0"/>
              <a:t>Returns values for the </a:t>
            </a:r>
            <a:r>
              <a:rPr lang="en-US" sz="2400" b="1" dirty="0"/>
              <a:t>same period in the previous year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DATEADD: </a:t>
            </a:r>
            <a:r>
              <a:rPr lang="en-US" sz="2400" dirty="0"/>
              <a:t>Shifts dates forward or backward by a specified interval.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87601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1D3B1-2472-11E5-FFCD-834F7E810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97A42DE-1D4D-08A3-2927-A37A22B6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930" y="33571"/>
            <a:ext cx="8042461" cy="880804"/>
          </a:xfrm>
        </p:spPr>
        <p:txBody>
          <a:bodyPr/>
          <a:lstStyle/>
          <a:p>
            <a:pPr lvl="0">
              <a:lnSpc>
                <a:spcPts val="6694"/>
              </a:lnSpc>
            </a:pP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DATA VISUALISATION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C6B2B-21BE-266C-09FB-7678EB10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1B24C-FDC6-1AE2-D438-DE1F8FA6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FAE0B2-64EA-1355-66AE-4A6B8BBD6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D049D-57FA-4523-7CC4-727AF332BF1F}"/>
              </a:ext>
            </a:extLst>
          </p:cNvPr>
          <p:cNvSpPr txBox="1"/>
          <p:nvPr/>
        </p:nvSpPr>
        <p:spPr>
          <a:xfrm>
            <a:off x="176234" y="1193902"/>
            <a:ext cx="11914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Visualization</a:t>
            </a:r>
            <a:r>
              <a:rPr lang="en-US" sz="2400" dirty="0"/>
              <a:t> is the process of </a:t>
            </a:r>
            <a:r>
              <a:rPr lang="en-US" sz="2400" b="1" dirty="0"/>
              <a:t>representing data in visual form</a:t>
            </a:r>
            <a:r>
              <a:rPr lang="en-US" sz="2400" dirty="0"/>
              <a:t> (charts, graphs, maps, tables) so users can </a:t>
            </a:r>
            <a:r>
              <a:rPr lang="en-US" sz="2400" b="1" dirty="0"/>
              <a:t>understand patterns, trends, and insights quickly</a:t>
            </a:r>
            <a:r>
              <a:rPr lang="en-US" sz="2400" dirty="0"/>
              <a:t>.</a:t>
            </a:r>
          </a:p>
          <a:p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103004-36AC-A797-613E-80AD7A132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016" y="2173189"/>
            <a:ext cx="7602584" cy="395996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84988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E0A91-C0EF-32F3-F616-7B84A62A5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383083B-8D0D-52C6-4F3D-CF93EEF2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930" y="33571"/>
            <a:ext cx="8042461" cy="880804"/>
          </a:xfrm>
        </p:spPr>
        <p:txBody>
          <a:bodyPr/>
          <a:lstStyle/>
          <a:p>
            <a:pPr lvl="0">
              <a:lnSpc>
                <a:spcPts val="6694"/>
              </a:lnSpc>
            </a:pPr>
            <a:r>
              <a:rPr lang="en-US" sz="4000" b="1" dirty="0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DATA VISUALISATION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32254-A673-8E0D-59AB-24BD025C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29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C7AB92-3A22-9624-E2C4-43CF51D29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8A8EEE-A475-E27E-0EEF-A005A289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48A42-3909-8400-DC98-2F6B5A3AEFD3}"/>
              </a:ext>
            </a:extLst>
          </p:cNvPr>
          <p:cNvSpPr txBox="1"/>
          <p:nvPr/>
        </p:nvSpPr>
        <p:spPr>
          <a:xfrm>
            <a:off x="176234" y="1193902"/>
            <a:ext cx="119141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Bar &amp; Column Charts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Clustered Column Chart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Stacked Column Chart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100% Stacked Column Chart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Clustered Bar Chart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Stacked Bar Chart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100% Stacked Bar Chart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CA7CF0-FC95-8B74-F23A-07B827929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7146" y="2524386"/>
            <a:ext cx="1828958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82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89935-8897-457C-55D7-39E460652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77D6F84-DBCB-6F73-3B2E-7395BC06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SUMMARY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886FF-62DE-889A-CD0C-0950E494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05D16-8D45-28B6-0C9E-8E664633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4480" y="6441648"/>
            <a:ext cx="1463040" cy="246888"/>
          </a:xfrm>
        </p:spPr>
        <p:txBody>
          <a:bodyPr/>
          <a:lstStyle/>
          <a:p>
            <a:r>
              <a:rPr lang="en-US" sz="1400" dirty="0"/>
              <a:t>DATA SCIENCE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95CC49-6306-F9A4-68EF-01625BE0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EF4A3-C38C-3F97-4106-BCC0E2F8A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952" y="1775287"/>
            <a:ext cx="9392411" cy="3975273"/>
          </a:xfrm>
        </p:spPr>
        <p:txBody>
          <a:bodyPr/>
          <a:lstStyle/>
          <a:p>
            <a:r>
              <a:rPr lang="en-US" sz="3200" dirty="0"/>
              <a:t>Learned about database schema.</a:t>
            </a:r>
          </a:p>
          <a:p>
            <a:r>
              <a:rPr lang="en-US" sz="3200" dirty="0"/>
              <a:t>Data warehouse concept and what exactly it is</a:t>
            </a:r>
          </a:p>
          <a:p>
            <a:r>
              <a:rPr lang="en-US" sz="3200" dirty="0"/>
              <a:t>OLTP and OLAP what are they and they are the fundamentals of Data science </a:t>
            </a:r>
          </a:p>
          <a:p>
            <a:r>
              <a:rPr lang="en-US" sz="3200" dirty="0"/>
              <a:t>What are ELT and what are its different components.</a:t>
            </a:r>
          </a:p>
          <a:p>
            <a:r>
              <a:rPr lang="en-US" sz="3200" dirty="0"/>
              <a:t>Installation of Oracle DB and Setting up the database server 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91358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{905201EB-3A92-4126-8894-4590D69BEA05}tf11429527_win32</Template>
  <TotalTime>3532</TotalTime>
  <Words>2404</Words>
  <Application>Microsoft Office PowerPoint</Application>
  <PresentationFormat>Widescreen</PresentationFormat>
  <Paragraphs>407</Paragraphs>
  <Slides>30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Autograph</vt:lpstr>
      <vt:lpstr>Arial</vt:lpstr>
      <vt:lpstr>Calibri</vt:lpstr>
      <vt:lpstr>Century Gothic</vt:lpstr>
      <vt:lpstr>Karla</vt:lpstr>
      <vt:lpstr>Univers Condensed Light</vt:lpstr>
      <vt:lpstr>Wingdings</vt:lpstr>
      <vt:lpstr>Office Theme</vt:lpstr>
      <vt:lpstr>POWER BI DATA ANALYSIS</vt:lpstr>
      <vt:lpstr>Agenda</vt:lpstr>
      <vt:lpstr>Introduction</vt:lpstr>
      <vt:lpstr>Power BI Phases </vt:lpstr>
      <vt:lpstr>GET DATA PHASE</vt:lpstr>
      <vt:lpstr>LOAD AND TRANSFORM</vt:lpstr>
      <vt:lpstr>POWER QUERY EDITOR</vt:lpstr>
      <vt:lpstr>HOME</vt:lpstr>
      <vt:lpstr>HOME</vt:lpstr>
      <vt:lpstr>HOME</vt:lpstr>
      <vt:lpstr>HOME</vt:lpstr>
      <vt:lpstr>HOME</vt:lpstr>
      <vt:lpstr>HOME</vt:lpstr>
      <vt:lpstr>HOME</vt:lpstr>
      <vt:lpstr>HOME</vt:lpstr>
      <vt:lpstr>HOME</vt:lpstr>
      <vt:lpstr>HOME</vt:lpstr>
      <vt:lpstr>TRANSFORM</vt:lpstr>
      <vt:lpstr>ADD COLUMN</vt:lpstr>
      <vt:lpstr>MODEL BUILDING PHASE</vt:lpstr>
      <vt:lpstr>TYPES OF RELATIONSHIP</vt:lpstr>
      <vt:lpstr>TYPES OF SCHEMA</vt:lpstr>
      <vt:lpstr>MODEL ENHANCEMENT PHASE</vt:lpstr>
      <vt:lpstr>DAX - DATA ANALYSIS EXPRESSION</vt:lpstr>
      <vt:lpstr>CALCULATED COLUMN</vt:lpstr>
      <vt:lpstr>FUNCTIONS IN DAX</vt:lpstr>
      <vt:lpstr>TIME INTELLIGENCE FUNCTION</vt:lpstr>
      <vt:lpstr>DATA VISUALISATION</vt:lpstr>
      <vt:lpstr>DATA VISUALISATION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SANTOSH NALAWADE</dc:creator>
  <cp:lastModifiedBy>TEJAS SANTOSH NALAWADE</cp:lastModifiedBy>
  <cp:revision>28</cp:revision>
  <dcterms:created xsi:type="dcterms:W3CDTF">2026-01-12T10:09:20Z</dcterms:created>
  <dcterms:modified xsi:type="dcterms:W3CDTF">2026-02-02T08:23:14Z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